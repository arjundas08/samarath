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7bdd7eb5b74367" /><Relationship Type="http://schemas.openxmlformats.org/officeDocument/2006/relationships/extended-properties" Target="/docProps/app.xml" Id="R7dc677f7d6154473" /><Relationship Type="http://schemas.openxmlformats.org/officeDocument/2006/relationships/officeDocument" Target="/ppt/presentation.xml" Id="R64e7f1d59a2243db" /></Relationships>
</file>

<file path=ppt/presentation.xml><?xml version="1.0" encoding="utf-8"?>
<p:presentation xmlns:p="http://schemas.openxmlformats.org/presentationml/2006/main">
  <p:sldMasterIdLst>
    <p:sldMasterId xmlns:r="http://schemas.openxmlformats.org/officeDocument/2006/relationships" id="2147483648" r:id="Rbc53a1e21bfc4d6d"/>
  </p:sldMasterIdLst>
  <p:notesMasterIdLst>
    <p:notesMasterId xmlns:r="http://schemas.openxmlformats.org/officeDocument/2006/relationships" r:id="Rf2a1e9b988b14a3d"/>
  </p:notesMasterIdLst>
  <p:sldIdLst>
    <p:sldId xmlns:r="http://schemas.openxmlformats.org/officeDocument/2006/relationships" id="256" r:id="R0f4006c374bd4e1a"/>
    <p:sldId xmlns:r="http://schemas.openxmlformats.org/officeDocument/2006/relationships" id="257" r:id="R1ead5d530fbb4ad8"/>
    <p:sldId xmlns:r="http://schemas.openxmlformats.org/officeDocument/2006/relationships" id="258" r:id="Rd01ce3e8763d45a9"/>
    <p:sldId xmlns:r="http://schemas.openxmlformats.org/officeDocument/2006/relationships" id="259" r:id="R5d300104fa314e63"/>
    <p:sldId xmlns:r="http://schemas.openxmlformats.org/officeDocument/2006/relationships" id="260" r:id="R0d9473a717a84a84"/>
    <p:sldId xmlns:r="http://schemas.openxmlformats.org/officeDocument/2006/relationships" id="261" r:id="R454a2377e91b4c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e40a829d55141fd" /><Relationship Type="http://schemas.openxmlformats.org/officeDocument/2006/relationships/slideMaster" Target="/ppt/slideMasters/slideMaster1.xml" Id="Rbc53a1e21bfc4d6d" /><Relationship Type="http://schemas.openxmlformats.org/officeDocument/2006/relationships/notesMaster" Target="/ppt/notesMasters/notesMaster1.xml" Id="Rf2a1e9b988b14a3d" /><Relationship Type="http://schemas.openxmlformats.org/officeDocument/2006/relationships/presProps" Target="/ppt/presProps.xml" Id="R07a090a742424154" /><Relationship Type="http://schemas.openxmlformats.org/officeDocument/2006/relationships/viewProps" Target="/ppt/viewProps.xml" Id="R140ff5ce4c514547" /><Relationship Type="http://schemas.openxmlformats.org/officeDocument/2006/relationships/tableStyles" Target="/ppt/tableStyles.xml" Id="Rd14d785eaf4748be" /><Relationship Type="http://schemas.openxmlformats.org/officeDocument/2006/relationships/slide" Target="/ppt/slides/slide1.xml" Id="R0f4006c374bd4e1a" /><Relationship Type="http://schemas.openxmlformats.org/officeDocument/2006/relationships/slide" Target="/ppt/slides/slide2.xml" Id="R1ead5d530fbb4ad8" /><Relationship Type="http://schemas.openxmlformats.org/officeDocument/2006/relationships/slide" Target="/ppt/slides/slide3.xml" Id="Rd01ce3e8763d45a9" /><Relationship Type="http://schemas.openxmlformats.org/officeDocument/2006/relationships/slide" Target="/ppt/slides/slide4.xml" Id="R5d300104fa314e63" /><Relationship Type="http://schemas.openxmlformats.org/officeDocument/2006/relationships/slide" Target="/ppt/slides/slide5.xml" Id="R0d9473a717a84a84" /><Relationship Type="http://schemas.openxmlformats.org/officeDocument/2006/relationships/slide" Target="/ppt/slides/slide6.xml" Id="R454a2377e91b4c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128e83061148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7e5f27a74c4d16" /><Relationship Type="http://schemas.openxmlformats.org/officeDocument/2006/relationships/notesMaster" Target="/ppt/notesMasters/notesMaster1.xml" Id="Rac9cf57b8aae46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c7ac9fa53d4ce5" /><Relationship Type="http://schemas.openxmlformats.org/officeDocument/2006/relationships/notesMaster" Target="/ppt/notesMasters/notesMaster1.xml" Id="R41c38a863ceb46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f3972e08c244ca" /><Relationship Type="http://schemas.openxmlformats.org/officeDocument/2006/relationships/notesMaster" Target="/ppt/notesMasters/notesMaster1.xml" Id="R4948851757ed40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3a3bbee2534ca5" /><Relationship Type="http://schemas.openxmlformats.org/officeDocument/2006/relationships/notesMaster" Target="/ppt/notesMasters/notesMaster1.xml" Id="R91949ce7133145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dbd3fe99594f3f" /><Relationship Type="http://schemas.openxmlformats.org/officeDocument/2006/relationships/notesMaster" Target="/ppt/notesMasters/notesMaster1.xml" Id="Rebe4f18a555643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2c861735e4476c" /><Relationship Type="http://schemas.openxmlformats.org/officeDocument/2006/relationships/notesMaster" Target="/ppt/notesMasters/notesMaster1.xml" Id="Rebc686af627340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problem statement: https://www.sih.gov.in/sih2026PS (SIH26027), accessed 26 September 2026. Portal typography displays Al in places; AI is normalized for legibility. Team name confirmed by user. Team ID intentionally left for user. This is an idea-stage proposed design, not a statement that all described features are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DESIGN. SAMARATH coordinates maintenance proposals, not train dispatch. A block reserves infrastructure for work. Inputs cover departmental maintenance needs, windows, timetable and goods forecasts, topology, crews, machines and readiness. Groups must meet compatibility evidence and complete setup/work/test/restoration requirements. Month allocation must reconcile with weekly detailed feasibility. The 75/60-minute why-not example proves a duration mismatch only under the stated window and duration. It does not assert global infeasibility. The system may suggest another existing permitted window; it cannot extend or grant a railway block. Uniqueness is the proposed combined workflow and evidence discipline, not a claim that optimization or grouping is new. Sources: https://www.sih.gov.in/sih2026PS ; https://www.iricen.gov.in/iricen/other_manual/ircm_ref_docs/1801.pdf ; team blueprint sections 5–7, 17–28.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PROPOSED ARCHITECTURE. Departmental maintenance: Engineering TMS, S&amp;T SMMS, Traction TDMS. Operating inputs include timetable, goods forecast vintages and approved planning windows. Source ownership and API entitlement must be verified. Gateway validates units, locations, timestamps, rules and provenance, then freezes the input snapshot. Priority tiers reflect authorized criticality, urgency and impact policy. CP-SAT selects finite feasible candidate packages with explicit hard constraints and time budgets. A separate checker recomputes feasibility from the original snapshot. PostgreSQL persists scoped data, job leases, plan versions and audit. FastAPI submits durable jobs; separate CPU workers solve and independently check. React/ECharts provides timeline, evidence and plan-diff views. Keycloak provides scoped identity in the implementation baseline. Officials review proposals; operational grant and release remain external. On a changed input, applicability becomes stale immediately. Recovery protects required coverage and hard locks before minimizing moved assignments. Future ML duration quantiles require authorized historical execution data, leakage-controlled temporal evaluation and improvement over a simple baseline. ML never overrides constraints; CP-SAT is not a trained ML predictor. Sources: https://developers.google.com/optimization/cp/cp_solver ; https://www.sih.gov.in/sih2026PS ; team blueprint and addendum.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All scope figures are proposed test sizing assumptions, not Railway records or measured capacity. Feasibility requires implementation benchmarks, validated local rules, authorized data access, and domain review. Shadow planning means comparison with the existing human process without operational control. Sources: blueprint sections 33–48 and implementation addendum. Railway Board 29 Aug 2023 joint rolling block procedure: https://www.iricen.gov.in/iricen/other_manual/ircm_ref_docs/1801.pdf.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Arithmetic example only, not a solver benchmark or measured Railway benefit. Sequential: 10+40+25+15+10=100 minutes. Parallel: 10+max(40,25)+15+10=75 minutes. Both assume one common setup, test and restoration period, compatible work and independent resources. A shared crew or prohibited combination prevents overlap. Benefit is 25 fewer occupation minutes under these assumptions, not a promise of train punctuality or monetary savings. Source: blueprint executable-package recipe and implementation phase 05. Validate benefits on equal input snapshots and equal task coverage against the coordinated baseline.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References, accessed/rechecked 26 September 2026 where accessible: https://www.sih.gov.in/sih2026PS ; https://www.iricen.gov.in/iricen/other_manual/ircm_ref_docs/1801.pdf ; https://cris.org.in/loadpage?page=proTMS ; https://cris.org.in/loadpage?page=proTDMS ; https://cris.org.in/loadpage?page=proCOA ; https://developers.google.com/optimization/cp/cp_solver . Team design reference: NIRVIKALP_SAMARATH_Production_Blueprint.pdf, 98 pages, assembled 25 September 2026, and implementation addendum. User reports an existing prototype but has not provided the link for verification. Replace the visible demo placeholder before portal submission.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a8e6a06ee943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613f21a62240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009ede1aa34d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5cccccc52a44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d8cf22187b428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aaefb08434419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5d22e2f4536420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ad44a5b9ea744b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f6143f3d3a549e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d36efcdc478494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e5f8582a2fe453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7C6BA2-BD3C-45C1-ABED-EA6ED6434F52}"/>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205F5340-52D0-4AD6-AA08-A73DAF64FF56}"/>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15C81E71-FBFF-471A-B8EA-4CB9BDCE50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11FD7B66-28BE-4C49-B58A-622A11D5D9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6D8944D-A491-41B9-99BD-F6A33D9179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F1CF8E-EB65-4C39-953B-FE55F11E64F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6DA6062-D644-4AAE-B01C-B2587780D7EE}"/>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E028DEF-DB8C-41A1-BD69-1A5112656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A1A50C04-56CF-4181-B8FD-C420180C7A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B16E1D7-D289-4E63-8EF8-001FFBC69A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FEF618-D8BA-4151-8E24-05CF419E33D3}"/>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8FC4C34-671E-4442-83EA-E98FF864FD69}"/>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0C1A943-4374-4EA8-A6EE-79F6C0C890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93F4745D-7576-46C0-BD24-60F306B609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9759ED0-EA32-4B5A-BB06-C467539AE2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ACBEA7-0EF3-41DC-9F00-FC4EB16E3E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77749F0-8D2F-4469-B42F-6EFEA2485BCB}"/>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EDE363A4-8487-4FA9-A65A-03E5813E807C}"/>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56683FFB-0E9F-43C3-9997-47B70FCDDF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CE4D0CB-403B-416B-B5BD-36CEB8AC97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E58CF57B-21E2-48DA-B39F-C68B004A99A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6683F3A-25F0-4FDD-AEA6-EFB410A2839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AD05D9E-B1DB-462D-A266-D05590B293CC}"/>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C6001A4-75BD-424E-B602-6818C26C12BE}"/>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1D5435F-550F-4506-899D-31836D7A5A06}"/>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32FBE9A-E4FE-469F-AB6B-1DB8CD95CE42}"/>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0E11DC75-01C8-4AF9-8C7C-2132D6D82D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4EB5A3B9-F942-476A-843A-985BD2D7C1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D8B5CDE1-F6CF-4288-A07C-70BFB5C684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FA4401-44A8-4D3A-88E8-205E5E542AC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EF0DB72F-2C58-40B6-BEA0-FE2350CF29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075C0BF8-B9AF-4D16-A99C-BD74E69133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4859CF99-A166-4CA9-BD1C-7D0C534CF7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6B5E46B7-4604-4377-BA96-8C64148507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5D88ED85-9988-4D8A-972B-C7A0AE0DC6C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ECFA797A-AFE8-4252-B232-9AEBBCF4B7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C30830-771A-4106-8683-6DE3FB778319}"/>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C03247B-1880-4ADE-9199-1BBBC856F3D7}"/>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41CC0159-6A26-416F-B3ED-5C19710A83D0}"/>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E4CD02C8-632B-476A-B8E9-025A8C6863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5EB331FE-BE97-4A8F-B96D-889E770321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2ED8358-C407-438F-9D2D-8758E0AC91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A4E0C0-A4D0-4125-AC3C-4FC4ED8B3D61}"/>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30515A0-104B-4188-8818-19F753E935B8}"/>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E93C5188-CC4E-4AEB-8FA8-C88DD2E7EDB0}"/>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6A02393B-E458-49FF-AC90-E4494037FA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4FD4A40C-FE9B-4F12-8FAF-F498A4633D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15819727-233B-45D3-9795-099A9C4248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029556-6D9B-45AE-9060-73BB72C4F9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0FE3DB4-1129-4E60-96CA-CC062621D9A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49A18FD-E38B-4534-81A4-F022D38D7B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1926E3C9-87DA-44F1-BFD1-27AE48B706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7403B819-27C6-4BB6-89E6-248A181067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E5FC033-7807-4640-B522-4E8D3337C5BC}"/>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71BB650-A72C-49C3-8F19-7634D1CC1BF1}"/>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03F4244-9999-4D4C-BB22-CFCCD1E670A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51208183-31E2-4CAC-AF6C-A3136AF5C81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2C4A51B-428D-4D18-8E71-7A4A0E263D2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8699ea9c104204" /><Relationship Type="http://schemas.openxmlformats.org/officeDocument/2006/relationships/slideLayout" Target="/ppt/slideLayouts/slideLayout1.xml" Id="Rcbd52c9b6d8c44e8" /><Relationship Type="http://schemas.openxmlformats.org/officeDocument/2006/relationships/slideLayout" Target="/ppt/slideLayouts/slideLayout2.xml" Id="R311ee11cde7242b1" /><Relationship Type="http://schemas.openxmlformats.org/officeDocument/2006/relationships/slideLayout" Target="/ppt/slideLayouts/slideLayout3.xml" Id="R6a5caf39c0bb4cf8" /><Relationship Type="http://schemas.openxmlformats.org/officeDocument/2006/relationships/slideLayout" Target="/ppt/slideLayouts/slideLayout4.xml" Id="R4b5a4ce2f6d74194" /><Relationship Type="http://schemas.openxmlformats.org/officeDocument/2006/relationships/slideLayout" Target="/ppt/slideLayouts/slideLayout5.xml" Id="R572e0dabc72f47c3" /><Relationship Type="http://schemas.openxmlformats.org/officeDocument/2006/relationships/slideLayout" Target="/ppt/slideLayouts/slideLayout6.xml" Id="R7d34a5774e794e5c" /><Relationship Type="http://schemas.openxmlformats.org/officeDocument/2006/relationships/slideLayout" Target="/ppt/slideLayouts/slideLayout7.xml" Id="Re17c29fcb7fa4245" /><Relationship Type="http://schemas.openxmlformats.org/officeDocument/2006/relationships/slideLayout" Target="/ppt/slideLayouts/slideLayout8.xml" Id="Rb3fc907017b64202" /><Relationship Type="http://schemas.openxmlformats.org/officeDocument/2006/relationships/slideLayout" Target="/ppt/slideLayouts/slideLayout9.xml" Id="Rf37890c3edeb4bae" /><Relationship Type="http://schemas.openxmlformats.org/officeDocument/2006/relationships/slideLayout" Target="/ppt/slideLayouts/slideLayout10.xml" Id="R171f2a6a6dc84b63" /><Relationship Type="http://schemas.openxmlformats.org/officeDocument/2006/relationships/slideLayout" Target="/ppt/slideLayouts/slideLayout11.xml" Id="R15a48d01a40948a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71C031D5-44B0-47DC-9279-F56455CD4E04}"/>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CE7665B7-5614-4687-AD97-CCBDF4BACAFF}"/>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872DB50-8808-441D-B240-028835C97BE9}"/>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0FEE8253-4AB3-41F5-8933-6F28C80136B5}"/>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B001754-603D-47A3-B15D-9875CFC917BC}"/>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d52c9b6d8c44e8"/>
    <p:sldLayoutId xmlns:r="http://schemas.openxmlformats.org/officeDocument/2006/relationships" id="2147483650" r:id="R311ee11cde7242b1"/>
    <p:sldLayoutId xmlns:r="http://schemas.openxmlformats.org/officeDocument/2006/relationships" id="2147483651" r:id="R6a5caf39c0bb4cf8"/>
    <p:sldLayoutId xmlns:r="http://schemas.openxmlformats.org/officeDocument/2006/relationships" id="2147483652" r:id="R4b5a4ce2f6d74194"/>
    <p:sldLayoutId xmlns:r="http://schemas.openxmlformats.org/officeDocument/2006/relationships" id="2147483653" r:id="R572e0dabc72f47c3"/>
    <p:sldLayoutId xmlns:r="http://schemas.openxmlformats.org/officeDocument/2006/relationships" id="2147483654" r:id="R7d34a5774e794e5c"/>
    <p:sldLayoutId xmlns:r="http://schemas.openxmlformats.org/officeDocument/2006/relationships" id="2147483655" r:id="Re17c29fcb7fa4245"/>
    <p:sldLayoutId xmlns:r="http://schemas.openxmlformats.org/officeDocument/2006/relationships" id="2147483656" r:id="Rb3fc907017b64202"/>
    <p:sldLayoutId xmlns:r="http://schemas.openxmlformats.org/officeDocument/2006/relationships" id="2147483657" r:id="Rf37890c3edeb4bae"/>
    <p:sldLayoutId xmlns:r="http://schemas.openxmlformats.org/officeDocument/2006/relationships" id="2147483658" r:id="R171f2a6a6dc84b63"/>
    <p:sldLayoutId xmlns:r="http://schemas.openxmlformats.org/officeDocument/2006/relationships" id="2147483659" r:id="R15a48d01a40948ac"/>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0208b25ad8404b" /><Relationship Type="http://schemas.openxmlformats.org/officeDocument/2006/relationships/image" Target="/ppt/media/image.png" Id="Rd25182b3108f4b1b" /><Relationship Type="http://schemas.openxmlformats.org/officeDocument/2006/relationships/image" Target="/ppt/media/image2.png" Id="R114b86d1964c4eb6" /><Relationship Type="http://schemas.openxmlformats.org/officeDocument/2006/relationships/notesSlide" Target="/ppt/notesSlides/notesSlide1.xml" Id="Rca04dd7b75df4b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2fd79c1735147e9" /><Relationship Type="http://schemas.openxmlformats.org/officeDocument/2006/relationships/image" Target="/ppt/media/image2.png" Id="R859e87d5de02449b" /><Relationship Type="http://schemas.openxmlformats.org/officeDocument/2006/relationships/notesSlide" Target="/ppt/notesSlides/notesSlide2.xml" Id="R30ddde0145664c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b40932cb4814fe0" /><Relationship Type="http://schemas.openxmlformats.org/officeDocument/2006/relationships/image" Target="/ppt/media/image2.png" Id="Rfcea83453f2f4e07" /><Relationship Type="http://schemas.openxmlformats.org/officeDocument/2006/relationships/notesSlide" Target="/ppt/notesSlides/notesSlide3.xml" Id="R13d9dbb2505c41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7a957f1b3664442" /><Relationship Type="http://schemas.openxmlformats.org/officeDocument/2006/relationships/image" Target="/ppt/media/image2.png" Id="Rc5421bdbb1124c84" /><Relationship Type="http://schemas.openxmlformats.org/officeDocument/2006/relationships/notesSlide" Target="/ppt/notesSlides/notesSlide4.xml" Id="R02b84513866b49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c28fe46f7f4452c" /><Relationship Type="http://schemas.openxmlformats.org/officeDocument/2006/relationships/image" Target="/ppt/media/image2.png" Id="Rfe0e1713e6984326" /><Relationship Type="http://schemas.openxmlformats.org/officeDocument/2006/relationships/notesSlide" Target="/ppt/notesSlides/notesSlide5.xml" Id="Rabad57d21a6a46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c3d2547fe674876" /><Relationship Type="http://schemas.openxmlformats.org/officeDocument/2006/relationships/image" Target="/ppt/media/image2.png" Id="R22a2bc6c973e41b3" /><Relationship Type="http://schemas.openxmlformats.org/officeDocument/2006/relationships/notesSlide" Target="/ppt/notesSlides/notesSlide6.xml" Id="R2eefd10738fd454b"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7"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d25182b3108f4b1b"/>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8" name="Title 7">
            <a:extLst xmlns:a="http://schemas.openxmlformats.org/drawingml/2006/main">
              <a:ext uri="{FF2B5EF4-FFF2-40B4-BE49-F238E27FC236}">
                <a16:creationId xmlns:a16="http://schemas.microsoft.com/office/drawing/2014/main" id="{C464748C-1831-4369-8785-78EB86C6550A}"/>
              </a:ext>
            </a:extLst>
          </p:cNvPr>
          <p:cNvSpPr>
            <a:spLocks xmlns:a="http://schemas.openxmlformats.org/drawingml/2006/main" noGrp="1"/>
          </p:cNvSpPr>
          <p:nvPr>
            <p:ph type="ctrTitle" idx="0"/>
          </p:nvPr>
        </p:nvSpPr>
        <p:spPr>
          <a:xfrm xmlns:a="http://schemas.openxmlformats.org/drawingml/2006/main">
            <a:off x="333375" y="114300"/>
            <a:ext cx="9334500" cy="857250"/>
          </a:xfrm>
        </p:spPr>
        <p:txBody>
          <a:bodyPr xmlns:a="http://schemas.openxmlformats.org/drawingml/2006/main">
            <a:noAutofit/>
          </a:bodyPr>
          <a:lstStyle xmlns:a="http://schemas.openxmlformats.org/drawingml/2006/main"/>
          <a:p xmlns:a="http://schemas.openxmlformats.org/drawingml/2006/main">
            <a:pPr>
              <a:defRPr sz="3225" b="1">
                <a:solidFill>
                  <a:srgbClr val="244F86"/>
                </a:solidFill>
                <a:latin typeface="Times New Roman"/>
                <a:ea typeface="Times New Roman"/>
                <a:cs typeface="Times New Roman"/>
              </a:defRPr>
            </a:pPr>
            <a:r>
              <a:rPr sz="3225" b="1">
                <a:solidFill>
                  <a:srgbClr val="244F86"/>
                </a:solidFill>
                <a:latin typeface="Times New Roman"/>
                <a:ea typeface="Times New Roman"/>
                <a:cs typeface="Times New Roman"/>
              </a:rPr>
              <a:t>SMART INDIA HACKATHON 2026</a:t>
            </a:r>
            <a:endParaRPr sz="4000" b="1">
              <a:solidFill>
                <a:schemeClr val="tx2"/>
              </a:solidFill>
              <a:latin typeface="Garamond"/>
              <a:ea typeface="Garamond"/>
              <a:cs typeface="Garamond"/>
            </a:endParaRPr>
          </a:p>
        </p:txBody>
      </p:sp>
      <p:pic>
        <p:nvPicPr>
          <p:cNvPr id="49" name="Picture 1"/>
          <p:cNvPicPr>
            <a:picLocks xmlns:a="http://schemas.openxmlformats.org/drawingml/2006/main" noChangeAspect="1"/>
          </p:cNvPicPr>
          <p:nvPr/>
        </p:nvPicPr>
        <p:blipFill>
          <a:blip xmlns:r="http://schemas.openxmlformats.org/officeDocument/2006/relationships" xmlns:a="http://schemas.openxmlformats.org/drawingml/2006/main" r:embed="R114b86d1964c4eb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C51BB88B-4770-45B8-81FC-005B7AE67F13}"/>
              </a:ext>
            </a:extLst>
          </p:cNvPr>
          <p:cNvSpPr>
            <a:spLocks xmlns:a="http://schemas.openxmlformats.org/drawingml/2006/main" noGrp="1"/>
          </p:cNvSpPr>
          <p:nvPr/>
        </p:nvSpPr>
        <p:spPr>
          <a:xfrm xmlns:a="http://schemas.openxmlformats.org/drawingml/2006/main">
            <a:off x="428625" y="1333500"/>
            <a:ext cx="581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75" b="1">
                <a:solidFill>
                  <a:srgbClr val="244F86"/>
                </a:solidFill>
                <a:latin typeface="Times New Roman"/>
                <a:ea typeface="Times New Roman"/>
                <a:cs typeface="Times New Roman"/>
              </a:defRPr>
            </a:pPr>
            <a:r>
              <a:rPr sz="3975" b="1">
                <a:solidFill>
                  <a:srgbClr val="244F86"/>
                </a:solidFill>
                <a:latin typeface="Times New Roman"/>
                <a:ea typeface="Times New Roman"/>
                <a:cs typeface="Times New Roman"/>
              </a:rPr>
              <a:t>SAMARATH</a:t>
            </a:r>
          </a:p>
        </p:txBody>
      </p:sp>
      <p:sp>
        <p:nvSpPr>
          <p:cNvPr id="41" name="">
            <a:extLst xmlns:a="http://schemas.openxmlformats.org/drawingml/2006/main">
              <a:ext uri="{FF2B5EF4-FFF2-40B4-BE49-F238E27FC236}">
                <a16:creationId xmlns:a16="http://schemas.microsoft.com/office/drawing/2014/main" id="{90E5823A-D401-49E9-BF6A-8D1802DC3B2C}"/>
              </a:ext>
            </a:extLst>
          </p:cNvPr>
          <p:cNvSpPr>
            <a:spLocks xmlns:a="http://schemas.openxmlformats.org/drawingml/2006/main" noGrp="1"/>
          </p:cNvSpPr>
          <p:nvPr/>
        </p:nvSpPr>
        <p:spPr>
          <a:xfrm xmlns:a="http://schemas.openxmlformats.org/drawingml/2006/main">
            <a:off x="457200" y="20097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6374C"/>
                </a:solidFill>
                <a:latin typeface="Arial"/>
                <a:ea typeface="Arial"/>
                <a:cs typeface="Arial"/>
              </a:defRPr>
            </a:pPr>
            <a:r>
              <a:rPr sz="1950" b="1">
                <a:solidFill>
                  <a:srgbClr val="16374C"/>
                </a:solidFill>
                <a:latin typeface="Arial"/>
                <a:ea typeface="Arial"/>
                <a:cs typeface="Arial"/>
              </a:rPr>
              <a:t>Coordinated railway maintenance planning</a:t>
            </a:r>
          </a:p>
        </p:txBody>
      </p:sp>
      <p:sp>
        <p:nvSpPr>
          <p:cNvPr id="42" name="">
            <a:extLst xmlns:a="http://schemas.openxmlformats.org/drawingml/2006/main">
              <a:ext uri="{FF2B5EF4-FFF2-40B4-BE49-F238E27FC236}">
                <a16:creationId xmlns:a16="http://schemas.microsoft.com/office/drawing/2014/main" id="{998089F0-7374-4343-8122-960D788FB187}"/>
              </a:ext>
            </a:extLst>
          </p:cNvPr>
          <p:cNvSpPr>
            <a:spLocks xmlns:a="http://schemas.openxmlformats.org/drawingml/2006/main" noGrp="1"/>
          </p:cNvSpPr>
          <p:nvPr/>
        </p:nvSpPr>
        <p:spPr>
          <a:xfrm xmlns:a="http://schemas.openxmlformats.org/drawingml/2006/main">
            <a:off x="457200" y="280035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6374C"/>
                </a:solidFill>
                <a:latin typeface="Arial"/>
                <a:ea typeface="Arial"/>
                <a:cs typeface="Arial"/>
              </a:defRPr>
            </a:pPr>
            <a:r>
              <a:rPr sz="1950" b="1">
                <a:solidFill>
                  <a:srgbClr val="16374C"/>
                </a:solidFill>
                <a:latin typeface="Arial"/>
                <a:ea typeface="Arial"/>
                <a:cs typeface="Arial"/>
              </a:rPr>
              <a:t>Problem Statement ID: SIH26027</a:t>
            </a:r>
          </a:p>
        </p:txBody>
      </p:sp>
      <p:sp>
        <p:nvSpPr>
          <p:cNvPr id="43" name="">
            <a:extLst xmlns:a="http://schemas.openxmlformats.org/drawingml/2006/main">
              <a:ext uri="{FF2B5EF4-FFF2-40B4-BE49-F238E27FC236}">
                <a16:creationId xmlns:a16="http://schemas.microsoft.com/office/drawing/2014/main" id="{A50987E1-C48D-4E08-9A99-E51DBD51E84C}"/>
              </a:ext>
            </a:extLst>
          </p:cNvPr>
          <p:cNvSpPr>
            <a:spLocks xmlns:a="http://schemas.openxmlformats.org/drawingml/2006/main" noGrp="1"/>
          </p:cNvSpPr>
          <p:nvPr/>
        </p:nvSpPr>
        <p:spPr>
          <a:xfrm xmlns:a="http://schemas.openxmlformats.org/drawingml/2006/main">
            <a:off x="457200" y="3286125"/>
            <a:ext cx="5810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6374C"/>
                </a:solidFill>
                <a:latin typeface="Arial"/>
                <a:ea typeface="Arial"/>
                <a:cs typeface="Arial"/>
              </a:defRPr>
            </a:pPr>
            <a:r>
              <a:rPr sz="2100" b="1">
                <a:solidFill>
                  <a:srgbClr val="16374C"/>
                </a:solidFill>
                <a:latin typeface="Arial"/>
                <a:ea typeface="Arial"/>
                <a:cs typeface="Arial"/>
              </a:rPr>
              <a:t>AI-Powered Automatic Block Planning to Maximize Asset Availability for Train Operations on Indian Railways</a:t>
            </a:r>
          </a:p>
        </p:txBody>
      </p:sp>
      <p:sp>
        <p:nvSpPr>
          <p:cNvPr id="44" name="">
            <a:extLst xmlns:a="http://schemas.openxmlformats.org/drawingml/2006/main">
              <a:ext uri="{FF2B5EF4-FFF2-40B4-BE49-F238E27FC236}">
                <a16:creationId xmlns:a16="http://schemas.microsoft.com/office/drawing/2014/main" id="{7F7F42AC-CD6A-4CB7-920E-A240D8029692}"/>
              </a:ext>
            </a:extLst>
          </p:cNvPr>
          <p:cNvSpPr>
            <a:spLocks xmlns:a="http://schemas.openxmlformats.org/drawingml/2006/main" noGrp="1"/>
          </p:cNvSpPr>
          <p:nvPr/>
        </p:nvSpPr>
        <p:spPr>
          <a:xfrm xmlns:a="http://schemas.openxmlformats.org/drawingml/2006/main">
            <a:off x="457200" y="4686300"/>
            <a:ext cx="6000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Theme: Transportation &amp; Logistics</a:t>
            </a:r>
          </a:p>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PS Category: Software</a:t>
            </a:r>
          </a:p>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Team Name: NIRVIKALP</a:t>
            </a:r>
          </a:p>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Team ID: [ADD REGISTERED ID]</a:t>
            </a:r>
          </a:p>
        </p:txBody>
      </p:sp>
    </p:spTree>
    <p:extLst>
      <p:ext uri="{BB962C8B-B14F-4D97-AF65-F5344CB8AC3E}">
        <p14:creationId xmlns:p14="http://schemas.microsoft.com/office/powerpoint/2010/main" val="1779383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4E348ACF-C864-4FD8-8CCA-E7B01F4BD9F2}"/>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380092CE-7823-42C3-9334-6839FA36A0C0}"/>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SAMARATH</a:t>
            </a:r>
          </a:p>
        </p:txBody>
      </p:sp>
      <p:sp>
        <p:nvSpPr>
          <p:cNvPr id="6" name="Slide Number Placeholder 5">
            <a:extLst xmlns:a="http://schemas.openxmlformats.org/drawingml/2006/main">
              <a:ext uri="{FF2B5EF4-FFF2-40B4-BE49-F238E27FC236}">
                <a16:creationId xmlns:a16="http://schemas.microsoft.com/office/drawing/2014/main" id="{FB178491-0858-4B16-9D0A-78B77028ED74}"/>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algn="ctr">
              <a:defRPr sz="1200" b="1">
                <a:solidFill>
                  <a:srgbClr val="FFFFFF"/>
                </a:solidFill>
                <a:latin typeface="Arial"/>
                <a:ea typeface="Arial"/>
                <a:cs typeface="Arial"/>
              </a:defRPr>
            </a:pPr>
            <a:fld id="{E2598689-54C9-18A7-3A19-ED76AA08988F}" type="slidenum">
              <a:rPr sz="1200"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136992A5-3A89-4F04-86EA-508C621B021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125" b="1">
                <a:solidFill>
                  <a:srgbClr val="16374C"/>
                </a:solidFill>
                <a:latin typeface="Arial"/>
                <a:ea typeface="Arial"/>
                <a:cs typeface="Arial"/>
              </a:defRPr>
            </a:pPr>
            <a:r>
              <a:rPr sz="1125" b="1">
                <a:solidFill>
                  <a:srgbClr val="16374C"/>
                </a:solidFill>
                <a:latin typeface="Arial"/>
                <a:ea typeface="Arial"/>
                <a:cs typeface="Arial"/>
              </a:rPr>
              <a:t>NIRVIKALP</a:t>
            </a:r>
            <a:endParaRPr/>
          </a:p>
        </p:txBody>
      </p:sp>
      <p:pic>
        <p:nvPicPr>
          <p:cNvPr id="15382" name="Picture 10"/>
          <p:cNvPicPr>
            <a:picLocks xmlns:a="http://schemas.openxmlformats.org/drawingml/2006/main" noChangeAspect="1"/>
          </p:cNvPicPr>
          <p:nvPr/>
        </p:nvPicPr>
        <p:blipFill>
          <a:blip xmlns:r="http://schemas.openxmlformats.org/officeDocument/2006/relationships" xmlns:a="http://schemas.openxmlformats.org/drawingml/2006/main" r:embed="R859e87d5de02449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7FB64FBB-ADE7-484C-AD6D-9598452EFC3E}"/>
              </a:ext>
            </a:extLst>
          </p:cNvPr>
          <p:cNvSpPr>
            <a:spLocks xmlns:a="http://schemas.openxmlformats.org/drawingml/2006/main" noGrp="1"/>
          </p:cNvSpPr>
          <p:nvPr/>
        </p:nvSpPr>
        <p:spPr>
          <a:xfrm xmlns:a="http://schemas.openxmlformats.org/drawingml/2006/main">
            <a:off x="457200" y="126682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4F86"/>
                </a:solidFill>
                <a:latin typeface="Arial"/>
                <a:ea typeface="Arial"/>
                <a:cs typeface="Arial"/>
              </a:defRPr>
            </a:pPr>
            <a:r>
              <a:rPr sz="2100" b="1">
                <a:solidFill>
                  <a:srgbClr val="244F86"/>
                </a:solidFill>
                <a:latin typeface="Arial"/>
                <a:ea typeface="Arial"/>
                <a:cs typeface="Arial"/>
              </a:rPr>
              <a:t>Proposed solution</a:t>
            </a:r>
          </a:p>
        </p:txBody>
      </p:sp>
      <p:sp>
        <p:nvSpPr>
          <p:cNvPr id="15365" name="">
            <a:extLst xmlns:a="http://schemas.openxmlformats.org/drawingml/2006/main">
              <a:ext uri="{FF2B5EF4-FFF2-40B4-BE49-F238E27FC236}">
                <a16:creationId xmlns:a16="http://schemas.microsoft.com/office/drawing/2014/main" id="{EB9735A0-2204-4382-A1AF-0A919C831397}"/>
              </a:ext>
            </a:extLst>
          </p:cNvPr>
          <p:cNvSpPr>
            <a:spLocks xmlns:a="http://schemas.openxmlformats.org/drawingml/2006/main" noGrp="1"/>
          </p:cNvSpPr>
          <p:nvPr/>
        </p:nvSpPr>
        <p:spPr>
          <a:xfrm xmlns:a="http://schemas.openxmlformats.org/drawingml/2006/main">
            <a:off x="457200" y="1676400"/>
            <a:ext cx="1123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6374C"/>
                </a:solidFill>
                <a:latin typeface="Arial"/>
                <a:ea typeface="Arial"/>
                <a:cs typeface="Arial"/>
              </a:defRPr>
            </a:pPr>
            <a:r>
              <a:rPr sz="2325" b="1">
                <a:solidFill>
                  <a:srgbClr val="16374C"/>
                </a:solidFill>
                <a:latin typeface="Arial"/>
                <a:ea typeface="Arial"/>
                <a:cs typeface="Arial"/>
              </a:rPr>
              <a:t>Coordinated blocks across Engineering, Traction and Signalling</a:t>
            </a:r>
          </a:p>
        </p:txBody>
      </p:sp>
      <p:sp>
        <p:nvSpPr>
          <p:cNvPr id="15366" name="">
            <a:extLst xmlns:a="http://schemas.openxmlformats.org/drawingml/2006/main">
              <a:ext uri="{FF2B5EF4-FFF2-40B4-BE49-F238E27FC236}">
                <a16:creationId xmlns:a16="http://schemas.microsoft.com/office/drawing/2014/main" id="{D424BBAC-0D90-4EC7-93FC-1DEA568F4EB5}"/>
              </a:ext>
            </a:extLst>
          </p:cNvPr>
          <p:cNvSpPr>
            <a:spLocks xmlns:a="http://schemas.openxmlformats.org/drawingml/2006/main" noGrp="1"/>
          </p:cNvSpPr>
          <p:nvPr/>
        </p:nvSpPr>
        <p:spPr>
          <a:xfrm xmlns:a="http://schemas.openxmlformats.org/drawingml/2006/main">
            <a:off x="457200" y="2143125"/>
            <a:ext cx="11239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Separate maintenance requests compete for the same track time, crews and machines. SAMARATH proposes one reviewable programme.</a:t>
            </a:r>
          </a:p>
        </p:txBody>
      </p:sp>
      <p:sp>
        <p:nvSpPr>
          <p:cNvPr id="15367" name="">
            <a:extLst xmlns:a="http://schemas.openxmlformats.org/drawingml/2006/main">
              <a:ext uri="{FF2B5EF4-FFF2-40B4-BE49-F238E27FC236}">
                <a16:creationId xmlns:a16="http://schemas.microsoft.com/office/drawing/2014/main" id="{522F4D65-3174-4E2D-9E5F-ACE959B4A17D}"/>
              </a:ext>
            </a:extLst>
          </p:cNvPr>
          <p:cNvSpPr>
            <a:spLocks xmlns:a="http://schemas.openxmlformats.org/drawingml/2006/main" noGrp="1"/>
          </p:cNvSpPr>
          <p:nvPr/>
        </p:nvSpPr>
        <p:spPr>
          <a:xfrm xmlns:a="http://schemas.openxmlformats.org/drawingml/2006/main">
            <a:off x="457200" y="2952750"/>
            <a:ext cx="3238500" cy="7620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1. Combine inputs</a:t>
            </a:r>
          </a:p>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Defects, trains, readiness</a:t>
            </a:r>
          </a:p>
        </p:txBody>
      </p:sp>
      <p:sp>
        <p:nvSpPr>
          <p:cNvPr id="15368" name="">
            <a:extLst xmlns:a="http://schemas.openxmlformats.org/drawingml/2006/main">
              <a:ext uri="{FF2B5EF4-FFF2-40B4-BE49-F238E27FC236}">
                <a16:creationId xmlns:a16="http://schemas.microsoft.com/office/drawing/2014/main" id="{1149FDB2-5208-457E-A837-263ED5DFBEB2}"/>
              </a:ext>
            </a:extLst>
          </p:cNvPr>
          <p:cNvSpPr>
            <a:spLocks xmlns:a="http://schemas.openxmlformats.org/drawingml/2006/main" noGrp="1"/>
          </p:cNvSpPr>
          <p:nvPr/>
        </p:nvSpPr>
        <p:spPr>
          <a:xfrm xmlns:a="http://schemas.openxmlformats.org/drawingml/2006/main">
            <a:off x="3829050" y="3238500"/>
            <a:ext cx="333375" cy="2095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5369" name="">
            <a:extLst xmlns:a="http://schemas.openxmlformats.org/drawingml/2006/main">
              <a:ext uri="{FF2B5EF4-FFF2-40B4-BE49-F238E27FC236}">
                <a16:creationId xmlns:a16="http://schemas.microsoft.com/office/drawing/2014/main" id="{916173F1-93BF-408E-B4FA-D82BA4EC1A77}"/>
              </a:ext>
            </a:extLst>
          </p:cNvPr>
          <p:cNvSpPr>
            <a:spLocks xmlns:a="http://schemas.openxmlformats.org/drawingml/2006/main" noGrp="1"/>
          </p:cNvSpPr>
          <p:nvPr/>
        </p:nvSpPr>
        <p:spPr>
          <a:xfrm xmlns:a="http://schemas.openxmlformats.org/drawingml/2006/main">
            <a:off x="4314825" y="2952750"/>
            <a:ext cx="3429000" cy="7620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2. Choose feasible work</a:t>
            </a:r>
          </a:p>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Priority + compatible groups</a:t>
            </a:r>
          </a:p>
        </p:txBody>
      </p:sp>
      <p:sp>
        <p:nvSpPr>
          <p:cNvPr id="15370" name="">
            <a:extLst xmlns:a="http://schemas.openxmlformats.org/drawingml/2006/main">
              <a:ext uri="{FF2B5EF4-FFF2-40B4-BE49-F238E27FC236}">
                <a16:creationId xmlns:a16="http://schemas.microsoft.com/office/drawing/2014/main" id="{C6A9C39C-668B-486D-8816-19AEAFDFF827}"/>
              </a:ext>
            </a:extLst>
          </p:cNvPr>
          <p:cNvSpPr>
            <a:spLocks xmlns:a="http://schemas.openxmlformats.org/drawingml/2006/main" noGrp="1"/>
          </p:cNvSpPr>
          <p:nvPr/>
        </p:nvSpPr>
        <p:spPr>
          <a:xfrm xmlns:a="http://schemas.openxmlformats.org/drawingml/2006/main">
            <a:off x="7877175" y="3238500"/>
            <a:ext cx="333375" cy="2095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5371" name="">
            <a:extLst xmlns:a="http://schemas.openxmlformats.org/drawingml/2006/main">
              <a:ext uri="{FF2B5EF4-FFF2-40B4-BE49-F238E27FC236}">
                <a16:creationId xmlns:a16="http://schemas.microsoft.com/office/drawing/2014/main" id="{953574DA-AE0E-4634-AB59-AC099C23A902}"/>
              </a:ext>
            </a:extLst>
          </p:cNvPr>
          <p:cNvSpPr>
            <a:spLocks xmlns:a="http://schemas.openxmlformats.org/drawingml/2006/main" noGrp="1"/>
          </p:cNvSpPr>
          <p:nvPr/>
        </p:nvSpPr>
        <p:spPr>
          <a:xfrm xmlns:a="http://schemas.openxmlformats.org/drawingml/2006/main">
            <a:off x="8362950" y="2952750"/>
            <a:ext cx="3371850" cy="7620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3. Publish proposals</a:t>
            </a:r>
          </a:p>
          <a:p xmlns:a="http://schemas.openxmlformats.org/drawingml/2006/main">
            <a:pPr algn="ctr">
              <a:defRPr sz="1800" b="1">
                <a:solidFill>
                  <a:srgbClr val="16374C"/>
                </a:solidFill>
                <a:latin typeface="Arial"/>
                <a:ea typeface="Arial"/>
                <a:cs typeface="Arial"/>
              </a:defRPr>
            </a:pPr>
            <a:r>
              <a:rPr sz="1800" b="1">
                <a:solidFill>
                  <a:srgbClr val="16374C"/>
                </a:solidFill>
                <a:latin typeface="Arial"/>
                <a:ea typeface="Arial"/>
                <a:cs typeface="Arial"/>
              </a:rPr>
              <a:t>Month + detailed week</a:t>
            </a:r>
          </a:p>
        </p:txBody>
      </p:sp>
      <p:sp>
        <p:nvSpPr>
          <p:cNvPr id="15372" name="">
            <a:extLst xmlns:a="http://schemas.openxmlformats.org/drawingml/2006/main">
              <a:ext uri="{FF2B5EF4-FFF2-40B4-BE49-F238E27FC236}">
                <a16:creationId xmlns:a16="http://schemas.microsoft.com/office/drawing/2014/main" id="{AE903897-E252-4C5C-8D14-BED4EF2CFD72}"/>
              </a:ext>
            </a:extLst>
          </p:cNvPr>
          <p:cNvSpPr>
            <a:spLocks xmlns:a="http://schemas.openxmlformats.org/drawingml/2006/main" noGrp="1"/>
          </p:cNvSpPr>
          <p:nvPr/>
        </p:nvSpPr>
        <p:spPr>
          <a:xfrm xmlns:a="http://schemas.openxmlformats.org/drawingml/2006/main">
            <a:off x="457200" y="394335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4F86"/>
                </a:solidFill>
                <a:latin typeface="Arial"/>
                <a:ea typeface="Arial"/>
                <a:cs typeface="Arial"/>
              </a:defRPr>
            </a:pPr>
            <a:r>
              <a:rPr sz="1950" b="1">
                <a:solidFill>
                  <a:srgbClr val="244F86"/>
                </a:solidFill>
                <a:latin typeface="Arial"/>
                <a:ea typeface="Arial"/>
                <a:cs typeface="Arial"/>
              </a:rPr>
              <a:t>How it addresses the problem</a:t>
            </a:r>
          </a:p>
        </p:txBody>
      </p:sp>
      <p:sp>
        <p:nvSpPr>
          <p:cNvPr id="15373" name="">
            <a:extLst xmlns:a="http://schemas.openxmlformats.org/drawingml/2006/main">
              <a:ext uri="{FF2B5EF4-FFF2-40B4-BE49-F238E27FC236}">
                <a16:creationId xmlns:a16="http://schemas.microsoft.com/office/drawing/2014/main" id="{401E8039-E187-4102-A5FD-D7E587E57CD7}"/>
              </a:ext>
            </a:extLst>
          </p:cNvPr>
          <p:cNvSpPr>
            <a:spLocks xmlns:a="http://schemas.openxmlformats.org/drawingml/2006/main" noGrp="1"/>
          </p:cNvSpPr>
          <p:nvPr/>
        </p:nvSpPr>
        <p:spPr>
          <a:xfrm xmlns:a="http://schemas.openxmlformats.org/drawingml/2006/main">
            <a:off x="457200" y="4371975"/>
            <a:ext cx="5334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Protects urgent work and train paths.</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Includes setup, testing and restoration.</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Checks crews, machines and readiness.</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Keeps officials in control of approval.</a:t>
            </a:r>
          </a:p>
        </p:txBody>
      </p:sp>
      <p:sp>
        <p:nvSpPr>
          <p:cNvPr id="15374" name="">
            <a:extLst xmlns:a="http://schemas.openxmlformats.org/drawingml/2006/main">
              <a:ext uri="{FF2B5EF4-FFF2-40B4-BE49-F238E27FC236}">
                <a16:creationId xmlns:a16="http://schemas.microsoft.com/office/drawing/2014/main" id="{03FBA348-5241-4AC5-886F-0D1F9A361186}"/>
              </a:ext>
            </a:extLst>
          </p:cNvPr>
          <p:cNvSpPr>
            <a:spLocks xmlns:a="http://schemas.openxmlformats.org/drawingml/2006/main" noGrp="1"/>
          </p:cNvSpPr>
          <p:nvPr/>
        </p:nvSpPr>
        <p:spPr>
          <a:xfrm xmlns:a="http://schemas.openxmlformats.org/drawingml/2006/main">
            <a:off x="6219825" y="3943350"/>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4F86"/>
                </a:solidFill>
                <a:latin typeface="Arial"/>
                <a:ea typeface="Arial"/>
                <a:cs typeface="Arial"/>
              </a:defRPr>
            </a:pPr>
            <a:r>
              <a:rPr sz="1950" b="1">
                <a:solidFill>
                  <a:srgbClr val="244F86"/>
                </a:solidFill>
                <a:latin typeface="Arial"/>
                <a:ea typeface="Arial"/>
                <a:cs typeface="Arial"/>
              </a:rPr>
              <a:t>Innovation and uniqueness</a:t>
            </a:r>
          </a:p>
        </p:txBody>
      </p:sp>
      <p:sp>
        <p:nvSpPr>
          <p:cNvPr id="15375" name="">
            <a:extLst xmlns:a="http://schemas.openxmlformats.org/drawingml/2006/main">
              <a:ext uri="{FF2B5EF4-FFF2-40B4-BE49-F238E27FC236}">
                <a16:creationId xmlns:a16="http://schemas.microsoft.com/office/drawing/2014/main" id="{B90C4C29-4052-45D3-90B6-FB2E2597826B}"/>
              </a:ext>
            </a:extLst>
          </p:cNvPr>
          <p:cNvSpPr>
            <a:spLocks xmlns:a="http://schemas.openxmlformats.org/drawingml/2006/main" noGrp="1"/>
          </p:cNvSpPr>
          <p:nvPr/>
        </p:nvSpPr>
        <p:spPr>
          <a:xfrm xmlns:a="http://schemas.openxmlformats.org/drawingml/2006/main">
            <a:off x="6219825" y="4371975"/>
            <a:ext cx="5429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Explains exclusions and permitted repairs.</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Rechecks every proposal independently.</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Replans with fewer assignment changes.</a:t>
            </a:r>
          </a:p>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Unknown compatibility blocks grouping.</a:t>
            </a:r>
          </a:p>
        </p:txBody>
      </p:sp>
      <p:sp>
        <p:nvSpPr>
          <p:cNvPr id="15376" name="">
            <a:extLst xmlns:a="http://schemas.openxmlformats.org/drawingml/2006/main">
              <a:ext uri="{FF2B5EF4-FFF2-40B4-BE49-F238E27FC236}">
                <a16:creationId xmlns:a16="http://schemas.microsoft.com/office/drawing/2014/main" id="{670E2DAA-4473-49E8-B4BC-4FA3F1E584F3}"/>
              </a:ext>
            </a:extLst>
          </p:cNvPr>
          <p:cNvSpPr>
            <a:spLocks xmlns:a="http://schemas.openxmlformats.org/drawingml/2006/main" noGrp="1"/>
          </p:cNvSpPr>
          <p:nvPr/>
        </p:nvSpPr>
        <p:spPr>
          <a:xfrm xmlns:a="http://schemas.openxmlformats.org/drawingml/2006/main">
            <a:off x="457200" y="5857875"/>
            <a:ext cx="1127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06D77"/>
                </a:solidFill>
                <a:latin typeface="Arial"/>
                <a:ea typeface="Arial"/>
                <a:cs typeface="Arial"/>
              </a:defRPr>
            </a:pPr>
            <a:r>
              <a:rPr sz="1650" b="1">
                <a:solidFill>
                  <a:srgbClr val="006D77"/>
                </a:solidFill>
                <a:latin typeface="Arial"/>
                <a:ea typeface="Arial"/>
                <a:cs typeface="Arial"/>
              </a:rPr>
              <a:t>Why-not example: 75-minute job + 60-minute window = cannot fit. Suggest another approved window.</a:t>
            </a:r>
          </a:p>
        </p:txBody>
      </p:sp>
    </p:spTree>
    <p:extLst>
      <p:ext uri="{BB962C8B-B14F-4D97-AF65-F5344CB8AC3E}">
        <p14:creationId xmlns:p14="http://schemas.microsoft.com/office/powerpoint/2010/main" val="37383777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7E034DEE-9E74-49C5-A234-5CC901CDF7CC}"/>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8C6DC45C-5A46-4359-88EF-C7FABA44DF11}"/>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algn="ctr">
              <a:defRPr sz="1200" b="1">
                <a:solidFill>
                  <a:srgbClr val="FFFFFF"/>
                </a:solidFill>
                <a:latin typeface="Arial"/>
                <a:ea typeface="Arial"/>
                <a:cs typeface="Arial"/>
              </a:defRPr>
            </a:pPr>
            <a:fld id="{202359C0-8A7A-196E-DD58-8E6569619F09}" type="slidenum">
              <a:rPr sz="1200"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FC2003A-9C31-4566-8EFF-EE06B8C709B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125" b="1">
                <a:solidFill>
                  <a:srgbClr val="16374C"/>
                </a:solidFill>
                <a:latin typeface="Arial"/>
                <a:ea typeface="Arial"/>
                <a:cs typeface="Arial"/>
              </a:defRPr>
            </a:pPr>
            <a:r>
              <a:rPr sz="1125" b="1">
                <a:solidFill>
                  <a:srgbClr val="16374C"/>
                </a:solidFill>
                <a:latin typeface="Arial"/>
                <a:ea typeface="Arial"/>
                <a:cs typeface="Arial"/>
              </a:rPr>
              <a:t>NIRVIKALP</a:t>
            </a:r>
            <a:endParaRPr/>
          </a:p>
        </p:txBody>
      </p:sp>
      <p:pic>
        <p:nvPicPr>
          <p:cNvPr id="17434" name="Picture 11"/>
          <p:cNvPicPr>
            <a:picLocks xmlns:a="http://schemas.openxmlformats.org/drawingml/2006/main" noChangeAspect="1"/>
          </p:cNvPicPr>
          <p:nvPr/>
        </p:nvPicPr>
        <p:blipFill>
          <a:blip xmlns:r="http://schemas.openxmlformats.org/officeDocument/2006/relationships" xmlns:a="http://schemas.openxmlformats.org/drawingml/2006/main" r:embed="Rfcea83453f2f4e0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FB249CC9-B946-4721-AC98-532C13792047}"/>
              </a:ext>
            </a:extLst>
          </p:cNvPr>
          <p:cNvSpPr>
            <a:spLocks xmlns:a="http://schemas.openxmlformats.org/drawingml/2006/main" noGrp="1"/>
          </p:cNvSpPr>
          <p:nvPr/>
        </p:nvSpPr>
        <p:spPr>
          <a:xfrm xmlns:a="http://schemas.openxmlformats.org/drawingml/2006/main">
            <a:off x="457200" y="1266825"/>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4F86"/>
                </a:solidFill>
                <a:latin typeface="Arial"/>
                <a:ea typeface="Arial"/>
                <a:cs typeface="Arial"/>
              </a:defRPr>
            </a:pPr>
            <a:r>
              <a:rPr sz="2100" b="1">
                <a:solidFill>
                  <a:srgbClr val="244F86"/>
                </a:solidFill>
                <a:latin typeface="Arial"/>
                <a:ea typeface="Arial"/>
                <a:cs typeface="Arial"/>
              </a:rPr>
              <a:t>System architecture and implementation workflow</a:t>
            </a:r>
          </a:p>
        </p:txBody>
      </p:sp>
      <p:sp>
        <p:nvSpPr>
          <p:cNvPr id="17413" name="">
            <a:extLst xmlns:a="http://schemas.openxmlformats.org/drawingml/2006/main">
              <a:ext uri="{FF2B5EF4-FFF2-40B4-BE49-F238E27FC236}">
                <a16:creationId xmlns:a16="http://schemas.microsoft.com/office/drawing/2014/main" id="{B024B9DA-0705-4C75-A4C7-2068993375EF}"/>
              </a:ext>
            </a:extLst>
          </p:cNvPr>
          <p:cNvSpPr>
            <a:spLocks xmlns:a="http://schemas.openxmlformats.org/drawingml/2006/main" noGrp="1"/>
          </p:cNvSpPr>
          <p:nvPr/>
        </p:nvSpPr>
        <p:spPr>
          <a:xfrm xmlns:a="http://schemas.openxmlformats.org/drawingml/2006/main">
            <a:off x="457200" y="1809750"/>
            <a:ext cx="3190875" cy="657225"/>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TMS / SMMS / TDMS</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Defects + overdue work</a:t>
            </a:r>
          </a:p>
        </p:txBody>
      </p:sp>
      <p:sp>
        <p:nvSpPr>
          <p:cNvPr id="17414" name="">
            <a:extLst xmlns:a="http://schemas.openxmlformats.org/drawingml/2006/main">
              <a:ext uri="{FF2B5EF4-FFF2-40B4-BE49-F238E27FC236}">
                <a16:creationId xmlns:a16="http://schemas.microsoft.com/office/drawing/2014/main" id="{6D5C0AB0-4AC9-4ECA-9845-DACF815BD355}"/>
              </a:ext>
            </a:extLst>
          </p:cNvPr>
          <p:cNvSpPr>
            <a:spLocks xmlns:a="http://schemas.openxmlformats.org/drawingml/2006/main" noGrp="1"/>
          </p:cNvSpPr>
          <p:nvPr/>
        </p:nvSpPr>
        <p:spPr>
          <a:xfrm xmlns:a="http://schemas.openxmlformats.org/drawingml/2006/main">
            <a:off x="4114800" y="1809750"/>
            <a:ext cx="3648075" cy="657225"/>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Timetable + Control Office</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Train paths + goods forecasts</a:t>
            </a:r>
          </a:p>
        </p:txBody>
      </p:sp>
      <p:sp>
        <p:nvSpPr>
          <p:cNvPr id="17415" name="">
            <a:extLst xmlns:a="http://schemas.openxmlformats.org/drawingml/2006/main">
              <a:ext uri="{FF2B5EF4-FFF2-40B4-BE49-F238E27FC236}">
                <a16:creationId xmlns:a16="http://schemas.microsoft.com/office/drawing/2014/main" id="{A524FF63-8CC7-4069-B8B7-9E3250D3CB50}"/>
              </a:ext>
            </a:extLst>
          </p:cNvPr>
          <p:cNvSpPr>
            <a:spLocks xmlns:a="http://schemas.openxmlformats.org/drawingml/2006/main" noGrp="1"/>
          </p:cNvSpPr>
          <p:nvPr/>
        </p:nvSpPr>
        <p:spPr>
          <a:xfrm xmlns:a="http://schemas.openxmlformats.org/drawingml/2006/main">
            <a:off x="8220075" y="1809750"/>
            <a:ext cx="3514725" cy="657225"/>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6374C"/>
                </a:solidFill>
                <a:latin typeface="Arial"/>
                <a:ea typeface="Arial"/>
                <a:cs typeface="Arial"/>
              </a:defRPr>
            </a:pPr>
            <a:r>
              <a:rPr sz="1650" b="1">
                <a:solidFill>
                  <a:srgbClr val="16374C"/>
                </a:solidFill>
                <a:latin typeface="Arial"/>
                <a:ea typeface="Arial"/>
                <a:cs typeface="Arial"/>
              </a:rPr>
              <a:t>Planning prerequisites</a:t>
            </a:r>
          </a:p>
          <a:p xmlns:a="http://schemas.openxmlformats.org/drawingml/2006/main">
            <a:pPr algn="ctr">
              <a:defRPr sz="1650" b="1">
                <a:solidFill>
                  <a:srgbClr val="16374C"/>
                </a:solidFill>
                <a:latin typeface="Arial"/>
                <a:ea typeface="Arial"/>
                <a:cs typeface="Arial"/>
              </a:defRPr>
            </a:pPr>
            <a:r>
              <a:rPr sz="1650" b="1">
                <a:solidFill>
                  <a:srgbClr val="16374C"/>
                </a:solidFill>
                <a:latin typeface="Arial"/>
                <a:ea typeface="Arial"/>
                <a:cs typeface="Arial"/>
              </a:rPr>
              <a:t>Windows, rules, crews, machines</a:t>
            </a:r>
          </a:p>
        </p:txBody>
      </p:sp>
      <p:sp>
        <p:nvSpPr>
          <p:cNvPr id="17416" name="">
            <a:extLst xmlns:a="http://schemas.openxmlformats.org/drawingml/2006/main">
              <a:ext uri="{FF2B5EF4-FFF2-40B4-BE49-F238E27FC236}">
                <a16:creationId xmlns:a16="http://schemas.microsoft.com/office/drawing/2014/main" id="{B5983588-DB1C-4523-82BC-2204BD19250B}"/>
              </a:ext>
            </a:extLst>
          </p:cNvPr>
          <p:cNvSpPr>
            <a:spLocks xmlns:a="http://schemas.openxmlformats.org/drawingml/2006/main" noGrp="1"/>
          </p:cNvSpPr>
          <p:nvPr/>
        </p:nvSpPr>
        <p:spPr>
          <a:xfrm xmlns:a="http://schemas.openxmlformats.org/drawingml/2006/main">
            <a:off x="457200" y="2571750"/>
            <a:ext cx="1123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26472"/>
                </a:solidFill>
                <a:latin typeface="Arial"/>
                <a:ea typeface="Arial"/>
                <a:cs typeface="Arial"/>
              </a:defRPr>
            </a:pPr>
            <a:r>
              <a:rPr sz="1650" b="0">
                <a:solidFill>
                  <a:srgbClr val="526472"/>
                </a:solidFill>
                <a:latin typeface="Arial"/>
                <a:ea typeface="Arial"/>
                <a:cs typeface="Arial"/>
              </a:rPr>
              <a:t>Authorized CSV/JSON imports first; owner-approved interfaces during a pilot</a:t>
            </a:r>
          </a:p>
        </p:txBody>
      </p:sp>
      <p:sp>
        <p:nvSpPr>
          <p:cNvPr id="17417" name="">
            <a:extLst xmlns:a="http://schemas.openxmlformats.org/drawingml/2006/main">
              <a:ext uri="{FF2B5EF4-FFF2-40B4-BE49-F238E27FC236}">
                <a16:creationId xmlns:a16="http://schemas.microsoft.com/office/drawing/2014/main" id="{75043DC6-62BA-43F9-82AE-984DA3C53D29}"/>
              </a:ext>
            </a:extLst>
          </p:cNvPr>
          <p:cNvSpPr>
            <a:spLocks xmlns:a="http://schemas.openxmlformats.org/drawingml/2006/main" noGrp="1"/>
          </p:cNvSpPr>
          <p:nvPr/>
        </p:nvSpPr>
        <p:spPr>
          <a:xfrm xmlns:a="http://schemas.openxmlformats.org/drawingml/2006/main">
            <a:off x="457200" y="3048000"/>
            <a:ext cx="2505075" cy="8763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INPUT GATEWAY</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Validate and version data</a:t>
            </a:r>
          </a:p>
        </p:txBody>
      </p:sp>
      <p:sp>
        <p:nvSpPr>
          <p:cNvPr id="17418" name="">
            <a:extLst xmlns:a="http://schemas.openxmlformats.org/drawingml/2006/main">
              <a:ext uri="{FF2B5EF4-FFF2-40B4-BE49-F238E27FC236}">
                <a16:creationId xmlns:a16="http://schemas.microsoft.com/office/drawing/2014/main" id="{104BD9A8-9C35-40D5-A4D9-CA0049CCF3CB}"/>
              </a:ext>
            </a:extLst>
          </p:cNvPr>
          <p:cNvSpPr>
            <a:spLocks xmlns:a="http://schemas.openxmlformats.org/drawingml/2006/main" noGrp="1"/>
          </p:cNvSpPr>
          <p:nvPr/>
        </p:nvSpPr>
        <p:spPr>
          <a:xfrm xmlns:a="http://schemas.openxmlformats.org/drawingml/2006/main">
            <a:off x="3076575" y="3381375"/>
            <a:ext cx="266700" cy="2095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7419" name="">
            <a:extLst xmlns:a="http://schemas.openxmlformats.org/drawingml/2006/main">
              <a:ext uri="{FF2B5EF4-FFF2-40B4-BE49-F238E27FC236}">
                <a16:creationId xmlns:a16="http://schemas.microsoft.com/office/drawing/2014/main" id="{1482799B-F773-4431-90DC-ACBC0D8DD9D4}"/>
              </a:ext>
            </a:extLst>
          </p:cNvPr>
          <p:cNvSpPr>
            <a:spLocks xmlns:a="http://schemas.openxmlformats.org/drawingml/2006/main" noGrp="1"/>
          </p:cNvSpPr>
          <p:nvPr/>
        </p:nvSpPr>
        <p:spPr>
          <a:xfrm xmlns:a="http://schemas.openxmlformats.org/drawingml/2006/main">
            <a:off x="3476625" y="3048000"/>
            <a:ext cx="3381375" cy="8763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PLANNING ENGINE</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Monthly allocation / weekly CP-SAT</a:t>
            </a:r>
          </a:p>
        </p:txBody>
      </p:sp>
      <p:sp>
        <p:nvSpPr>
          <p:cNvPr id="17420" name="">
            <a:extLst xmlns:a="http://schemas.openxmlformats.org/drawingml/2006/main">
              <a:ext uri="{FF2B5EF4-FFF2-40B4-BE49-F238E27FC236}">
                <a16:creationId xmlns:a16="http://schemas.microsoft.com/office/drawing/2014/main" id="{EFE949D6-A5C7-4477-BF76-880CCF3FADDF}"/>
              </a:ext>
            </a:extLst>
          </p:cNvPr>
          <p:cNvSpPr>
            <a:spLocks xmlns:a="http://schemas.openxmlformats.org/drawingml/2006/main" noGrp="1"/>
          </p:cNvSpPr>
          <p:nvPr/>
        </p:nvSpPr>
        <p:spPr>
          <a:xfrm xmlns:a="http://schemas.openxmlformats.org/drawingml/2006/main">
            <a:off x="6972300" y="3381375"/>
            <a:ext cx="266700" cy="209550"/>
          </a:xfrm>
          <a:prstGeom xmlns:a="http://schemas.openxmlformats.org/drawingml/2006/main" prst="rightArrow">
            <a:avLst/>
          </a:prstGeom>
          <a:solidFill xmlns:a="http://schemas.openxmlformats.org/drawingml/2006/main">
            <a:srgbClr val="006D77"/>
          </a:solidFill>
          <a:ln xmlns:a="http://schemas.openxmlformats.org/drawingml/2006/main" w="0">
            <a:noFill/>
          </a:ln>
        </p:spPr>
      </p:sp>
      <p:sp>
        <p:nvSpPr>
          <p:cNvPr id="17421" name="">
            <a:extLst xmlns:a="http://schemas.openxmlformats.org/drawingml/2006/main">
              <a:ext uri="{FF2B5EF4-FFF2-40B4-BE49-F238E27FC236}">
                <a16:creationId xmlns:a16="http://schemas.microsoft.com/office/drawing/2014/main" id="{42509FCC-82A3-4C57-9C25-0105DBFC2DF3}"/>
              </a:ext>
            </a:extLst>
          </p:cNvPr>
          <p:cNvSpPr>
            <a:spLocks xmlns:a="http://schemas.openxmlformats.org/drawingml/2006/main" noGrp="1"/>
          </p:cNvSpPr>
          <p:nvPr/>
        </p:nvSpPr>
        <p:spPr>
          <a:xfrm xmlns:a="http://schemas.openxmlformats.org/drawingml/2006/main">
            <a:off x="7372350" y="3048000"/>
            <a:ext cx="4362450" cy="876300"/>
          </a:xfrm>
          <a:prstGeom xmlns:a="http://schemas.openxmlformats.org/drawingml/2006/main" prst="rect">
            <a:avLst/>
          </a:prstGeom>
          <a:solidFill xmlns:a="http://schemas.openxmlformats.org/drawingml/2006/main">
            <a:srgbClr val="E8F2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INDEPENDENT CHECKER</a:t>
            </a:r>
          </a:p>
          <a:p xmlns:a="http://schemas.openxmlformats.org/drawingml/2006/main">
            <a:pPr algn="ctr">
              <a:defRPr sz="1725" b="1">
                <a:solidFill>
                  <a:srgbClr val="16374C"/>
                </a:solidFill>
                <a:latin typeface="Arial"/>
                <a:ea typeface="Arial"/>
                <a:cs typeface="Arial"/>
              </a:defRPr>
            </a:pPr>
            <a:r>
              <a:rPr sz="1725" b="1">
                <a:solidFill>
                  <a:srgbClr val="16374C"/>
                </a:solidFill>
                <a:latin typeface="Arial"/>
                <a:ea typeface="Arial"/>
                <a:cs typeface="Arial"/>
              </a:rPr>
              <a:t>Recheck raw inputs + proposal</a:t>
            </a:r>
          </a:p>
        </p:txBody>
      </p:sp>
      <p:sp>
        <p:nvSpPr>
          <p:cNvPr id="17422" name="">
            <a:extLst xmlns:a="http://schemas.openxmlformats.org/drawingml/2006/main">
              <a:ext uri="{FF2B5EF4-FFF2-40B4-BE49-F238E27FC236}">
                <a16:creationId xmlns:a16="http://schemas.microsoft.com/office/drawing/2014/main" id="{E7E0F09D-DFEF-4732-911B-DD535D761691}"/>
              </a:ext>
            </a:extLst>
          </p:cNvPr>
          <p:cNvSpPr>
            <a:spLocks xmlns:a="http://schemas.openxmlformats.org/drawingml/2006/main" noGrp="1"/>
          </p:cNvSpPr>
          <p:nvPr/>
        </p:nvSpPr>
        <p:spPr>
          <a:xfrm xmlns:a="http://schemas.openxmlformats.org/drawingml/2006/main">
            <a:off x="457200" y="4076700"/>
            <a:ext cx="652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374C"/>
                </a:solidFill>
                <a:latin typeface="Arial"/>
                <a:ea typeface="Arial"/>
                <a:cs typeface="Arial"/>
              </a:defRPr>
            </a:pPr>
            <a:r>
              <a:rPr sz="1725" b="1">
                <a:solidFill>
                  <a:srgbClr val="16374C"/>
                </a:solidFill>
                <a:latin typeface="Arial"/>
                <a:ea typeface="Arial"/>
                <a:cs typeface="Arial"/>
              </a:rPr>
              <a:t>Priority: criticality, due date, availability impact</a:t>
            </a:r>
          </a:p>
        </p:txBody>
      </p:sp>
      <p:sp>
        <p:nvSpPr>
          <p:cNvPr id="17423" name="">
            <a:extLst xmlns:a="http://schemas.openxmlformats.org/drawingml/2006/main">
              <a:ext uri="{FF2B5EF4-FFF2-40B4-BE49-F238E27FC236}">
                <a16:creationId xmlns:a16="http://schemas.microsoft.com/office/drawing/2014/main" id="{DFF7F80E-E61A-4056-A9FD-25AC78B2B87E}"/>
              </a:ext>
            </a:extLst>
          </p:cNvPr>
          <p:cNvSpPr>
            <a:spLocks xmlns:a="http://schemas.openxmlformats.org/drawingml/2006/main" noGrp="1"/>
          </p:cNvSpPr>
          <p:nvPr/>
        </p:nvSpPr>
        <p:spPr>
          <a:xfrm xmlns:a="http://schemas.openxmlformats.org/drawingml/2006/main">
            <a:off x="457200" y="4429125"/>
            <a:ext cx="676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Constraints: trains, compatibility, resources, readiness, locks</a:t>
            </a:r>
          </a:p>
        </p:txBody>
      </p:sp>
      <p:sp>
        <p:nvSpPr>
          <p:cNvPr id="17424" name="">
            <a:extLst xmlns:a="http://schemas.openxmlformats.org/drawingml/2006/main">
              <a:ext uri="{FF2B5EF4-FFF2-40B4-BE49-F238E27FC236}">
                <a16:creationId xmlns:a16="http://schemas.microsoft.com/office/drawing/2014/main" id="{272C0B39-59DA-4AFA-A0A1-2933C5825FCD}"/>
              </a:ext>
            </a:extLst>
          </p:cNvPr>
          <p:cNvSpPr>
            <a:spLocks xmlns:a="http://schemas.openxmlformats.org/drawingml/2006/main" noGrp="1"/>
          </p:cNvSpPr>
          <p:nvPr/>
        </p:nvSpPr>
        <p:spPr>
          <a:xfrm xmlns:a="http://schemas.openxmlformats.org/drawingml/2006/main">
            <a:off x="7581900" y="4076700"/>
            <a:ext cx="414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6374C"/>
                </a:solidFill>
                <a:latin typeface="Arial"/>
                <a:ea typeface="Arial"/>
                <a:cs typeface="Arial"/>
              </a:defRPr>
            </a:pPr>
            <a:r>
              <a:rPr sz="1725" b="1">
                <a:solidFill>
                  <a:srgbClr val="16374C"/>
                </a:solidFill>
                <a:latin typeface="Arial"/>
                <a:ea typeface="Arial"/>
                <a:cs typeface="Arial"/>
              </a:rPr>
              <a:t>React + ECharts workbench</a:t>
            </a:r>
          </a:p>
        </p:txBody>
      </p:sp>
      <p:sp>
        <p:nvSpPr>
          <p:cNvPr id="17425" name="">
            <a:extLst xmlns:a="http://schemas.openxmlformats.org/drawingml/2006/main">
              <a:ext uri="{FF2B5EF4-FFF2-40B4-BE49-F238E27FC236}">
                <a16:creationId xmlns:a16="http://schemas.microsoft.com/office/drawing/2014/main" id="{69661C65-DC4E-4918-B058-E6B19E37B73D}"/>
              </a:ext>
            </a:extLst>
          </p:cNvPr>
          <p:cNvSpPr>
            <a:spLocks xmlns:a="http://schemas.openxmlformats.org/drawingml/2006/main" noGrp="1"/>
          </p:cNvSpPr>
          <p:nvPr/>
        </p:nvSpPr>
        <p:spPr>
          <a:xfrm xmlns:a="http://schemas.openxmlformats.org/drawingml/2006/main">
            <a:off x="7581900" y="4438650"/>
            <a:ext cx="4143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Schedule, why-not evidence, before/after changes and human review</a:t>
            </a:r>
          </a:p>
        </p:txBody>
      </p:sp>
      <p:sp>
        <p:nvSpPr>
          <p:cNvPr id="17426" name="">
            <a:extLst xmlns:a="http://schemas.openxmlformats.org/drawingml/2006/main">
              <a:ext uri="{FF2B5EF4-FFF2-40B4-BE49-F238E27FC236}">
                <a16:creationId xmlns:a16="http://schemas.microsoft.com/office/drawing/2014/main" id="{C4B965D6-2163-4DBC-BA96-DD7771A2BE7C}"/>
              </a:ext>
            </a:extLst>
          </p:cNvPr>
          <p:cNvSpPr>
            <a:spLocks xmlns:a="http://schemas.openxmlformats.org/drawingml/2006/main" noGrp="1"/>
          </p:cNvSpPr>
          <p:nvPr/>
        </p:nvSpPr>
        <p:spPr>
          <a:xfrm xmlns:a="http://schemas.openxmlformats.org/drawingml/2006/main">
            <a:off x="457200" y="5153025"/>
            <a:ext cx="11277600" cy="447675"/>
          </a:xfrm>
          <a:prstGeom xmlns:a="http://schemas.openxmlformats.org/drawingml/2006/main" prst="rect">
            <a:avLst/>
          </a:prstGeom>
          <a:solidFill xmlns:a="http://schemas.openxmlformats.org/drawingml/2006/main">
            <a:srgbClr val="EEF1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16374C"/>
                </a:solidFill>
                <a:latin typeface="Arial"/>
                <a:ea typeface="Arial"/>
                <a:cs typeface="Arial"/>
              </a:defRPr>
            </a:pPr>
            <a:r>
              <a:rPr sz="1650" b="1">
                <a:solidFill>
                  <a:srgbClr val="16374C"/>
                </a:solidFill>
                <a:latin typeface="Arial"/>
                <a:ea typeface="Arial"/>
                <a:cs typeface="Arial"/>
              </a:rPr>
              <a:t>PostgreSQL: versioned inputs, durable solve jobs, plan history and audit</a:t>
            </a:r>
          </a:p>
        </p:txBody>
      </p:sp>
      <p:sp>
        <p:nvSpPr>
          <p:cNvPr id="17427" name="">
            <a:extLst xmlns:a="http://schemas.openxmlformats.org/drawingml/2006/main">
              <a:ext uri="{FF2B5EF4-FFF2-40B4-BE49-F238E27FC236}">
                <a16:creationId xmlns:a16="http://schemas.microsoft.com/office/drawing/2014/main" id="{165C6649-337F-4258-9D7E-826F2637FBEA}"/>
              </a:ext>
            </a:extLst>
          </p:cNvPr>
          <p:cNvSpPr>
            <a:spLocks xmlns:a="http://schemas.openxmlformats.org/drawingml/2006/main" noGrp="1"/>
          </p:cNvSpPr>
          <p:nvPr/>
        </p:nvSpPr>
        <p:spPr>
          <a:xfrm xmlns:a="http://schemas.openxmlformats.org/drawingml/2006/main">
            <a:off x="457200" y="5686425"/>
            <a:ext cx="1123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06D77"/>
                </a:solidFill>
                <a:latin typeface="Arial"/>
                <a:ea typeface="Arial"/>
                <a:cs typeface="Arial"/>
              </a:defRPr>
            </a:pPr>
            <a:r>
              <a:rPr sz="1650" b="1">
                <a:solidFill>
                  <a:srgbClr val="006D77"/>
                </a:solidFill>
                <a:latin typeface="Arial"/>
                <a:ea typeface="Arial"/>
                <a:cs typeface="Arial"/>
              </a:rPr>
              <a:t>Changed input invalidates the old plan; a worker re-solves and rechecks before review.</a:t>
            </a:r>
          </a:p>
        </p:txBody>
      </p:sp>
      <p:sp>
        <p:nvSpPr>
          <p:cNvPr id="17428" name="">
            <a:extLst xmlns:a="http://schemas.openxmlformats.org/drawingml/2006/main">
              <a:ext uri="{FF2B5EF4-FFF2-40B4-BE49-F238E27FC236}">
                <a16:creationId xmlns:a16="http://schemas.microsoft.com/office/drawing/2014/main" id="{17C151DD-4269-433E-9624-5B6E218F7DE8}"/>
              </a:ext>
            </a:extLst>
          </p:cNvPr>
          <p:cNvSpPr>
            <a:spLocks xmlns:a="http://schemas.openxmlformats.org/drawingml/2006/main" noGrp="1"/>
          </p:cNvSpPr>
          <p:nvPr/>
        </p:nvSpPr>
        <p:spPr>
          <a:xfrm xmlns:a="http://schemas.openxmlformats.org/drawingml/2006/main">
            <a:off x="457200" y="6019800"/>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26472"/>
                </a:solidFill>
                <a:latin typeface="Arial"/>
                <a:ea typeface="Arial"/>
                <a:cs typeface="Arial"/>
              </a:defRPr>
            </a:pPr>
            <a:r>
              <a:rPr sz="1350" b="0">
                <a:solidFill>
                  <a:srgbClr val="526472"/>
                </a:solidFill>
                <a:latin typeface="Arial"/>
                <a:ea typeface="Arial"/>
                <a:cs typeface="Arial"/>
              </a:rPr>
              <a:t>Python / FastAPI + OR-Tools. Future ML: duration estimates from authorized history, tested against a baseline.</a:t>
            </a:r>
          </a:p>
        </p:txBody>
      </p:sp>
    </p:spTree>
    <p:extLst>
      <p:ext uri="{BB962C8B-B14F-4D97-AF65-F5344CB8AC3E}">
        <p14:creationId xmlns:p14="http://schemas.microsoft.com/office/powerpoint/2010/main" val="6118440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2E089008-B1BE-4D94-8752-4FD78612EAA8}"/>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59696BCA-4341-4D0A-90DB-6C8B12023C8B}"/>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ct val="0"/>
              </a:spcBef>
              <a:spcAft>
                <a:spcPct val="0"/>
              </a:spcAft>
              <a:buClrTx/>
              <a:buSzTx/>
              <a:buFontTx/>
              <a:buNone/>
              <a:defRPr sz="1200" b="1">
                <a:solidFill>
                  <a:srgbClr val="FFFFFF"/>
                </a:solidFill>
                <a:latin typeface="Arial"/>
                <a:ea typeface="Arial"/>
                <a:cs typeface="Arial"/>
              </a:defRPr>
            </a:pPr>
            <a:fld id="{EFD6AB9A-5F9E-5F59-51AB-3C8734130965}" type="slidenum">
              <a:rPr sz="1200"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B5351535-CF82-41B2-8D37-3176A85D172D}"/>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125" b="1">
                <a:solidFill>
                  <a:srgbClr val="16374C"/>
                </a:solidFill>
                <a:latin typeface="Arial"/>
                <a:ea typeface="Arial"/>
                <a:cs typeface="Arial"/>
              </a:defRPr>
            </a:pPr>
            <a:r>
              <a:rPr sz="1125" b="1">
                <a:solidFill>
                  <a:srgbClr val="16374C"/>
                </a:solidFill>
                <a:latin typeface="Arial"/>
                <a:ea typeface="Arial"/>
                <a:cs typeface="Arial"/>
              </a:rPr>
              <a:t>NIRVIKALP</a:t>
            </a:r>
            <a:endParaRPr/>
          </a:p>
        </p:txBody>
      </p:sp>
      <p:pic>
        <p:nvPicPr>
          <p:cNvPr id="17431" name="Picture 10"/>
          <p:cNvPicPr>
            <a:picLocks xmlns:a="http://schemas.openxmlformats.org/drawingml/2006/main" noChangeAspect="1"/>
          </p:cNvPicPr>
          <p:nvPr/>
        </p:nvPicPr>
        <p:blipFill>
          <a:blip xmlns:r="http://schemas.openxmlformats.org/officeDocument/2006/relationships" xmlns:a="http://schemas.openxmlformats.org/drawingml/2006/main" r:embed="Rc5421bdbb1124c84"/>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DEFE4103-8A09-4470-8A8F-15EB0E022DDA}"/>
              </a:ext>
            </a:extLst>
          </p:cNvPr>
          <p:cNvSpPr>
            <a:spLocks xmlns:a="http://schemas.openxmlformats.org/drawingml/2006/main" noGrp="1"/>
          </p:cNvSpPr>
          <p:nvPr/>
        </p:nvSpPr>
        <p:spPr>
          <a:xfrm xmlns:a="http://schemas.openxmlformats.org/drawingml/2006/main">
            <a:off x="457200" y="1352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44F86"/>
                </a:solidFill>
                <a:latin typeface="Arial"/>
                <a:ea typeface="Arial"/>
                <a:cs typeface="Arial"/>
              </a:defRPr>
            </a:pPr>
            <a:r>
              <a:rPr sz="2175" b="1">
                <a:solidFill>
                  <a:srgbClr val="244F86"/>
                </a:solidFill>
                <a:latin typeface="Arial"/>
                <a:ea typeface="Arial"/>
                <a:cs typeface="Arial"/>
              </a:rPr>
              <a:t>Analysis of feasibility</a:t>
            </a:r>
          </a:p>
        </p:txBody>
      </p:sp>
      <p:sp>
        <p:nvSpPr>
          <p:cNvPr id="17413" name="">
            <a:extLst xmlns:a="http://schemas.openxmlformats.org/drawingml/2006/main">
              <a:ext uri="{FF2B5EF4-FFF2-40B4-BE49-F238E27FC236}">
                <a16:creationId xmlns:a16="http://schemas.microsoft.com/office/drawing/2014/main" id="{3538925C-CB9A-4BAD-BE80-6E1A16083BD7}"/>
              </a:ext>
            </a:extLst>
          </p:cNvPr>
          <p:cNvSpPr>
            <a:spLocks xmlns:a="http://schemas.openxmlformats.org/drawingml/2006/main" noGrp="1"/>
          </p:cNvSpPr>
          <p:nvPr/>
        </p:nvSpPr>
        <p:spPr>
          <a:xfrm xmlns:a="http://schemas.openxmlformats.org/drawingml/2006/main">
            <a:off x="457200" y="1762125"/>
            <a:ext cx="1123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16374C"/>
                </a:solidFill>
                <a:latin typeface="Arial"/>
                <a:ea typeface="Arial"/>
                <a:cs typeface="Arial"/>
              </a:defRPr>
            </a:pPr>
            <a:r>
              <a:rPr sz="2550" b="1">
                <a:solidFill>
                  <a:srgbClr val="16374C"/>
                </a:solidFill>
                <a:latin typeface="Arial"/>
                <a:ea typeface="Arial"/>
                <a:cs typeface="Arial"/>
              </a:rPr>
              <a:t>A bounded pilot with existing software tools</a:t>
            </a:r>
          </a:p>
        </p:txBody>
      </p:sp>
      <p:sp>
        <p:nvSpPr>
          <p:cNvPr id="17414" name="">
            <a:extLst xmlns:a="http://schemas.openxmlformats.org/drawingml/2006/main">
              <a:ext uri="{FF2B5EF4-FFF2-40B4-BE49-F238E27FC236}">
                <a16:creationId xmlns:a16="http://schemas.microsoft.com/office/drawing/2014/main" id="{5A928B80-94E9-45B7-8063-78E57940E474}"/>
              </a:ext>
            </a:extLst>
          </p:cNvPr>
          <p:cNvSpPr>
            <a:spLocks xmlns:a="http://schemas.openxmlformats.org/drawingml/2006/main" noGrp="1"/>
          </p:cNvSpPr>
          <p:nvPr/>
        </p:nvSpPr>
        <p:spPr>
          <a:xfrm xmlns:a="http://schemas.openxmlformats.org/drawingml/2006/main">
            <a:off x="457200" y="2276475"/>
            <a:ext cx="1123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16374C"/>
                </a:solidFill>
                <a:latin typeface="Arial"/>
                <a:ea typeface="Arial"/>
                <a:cs typeface="Arial"/>
              </a:defRPr>
            </a:pPr>
            <a:r>
              <a:rPr sz="1875" b="0">
                <a:solidFill>
                  <a:srgbClr val="16374C"/>
                </a:solidFill>
                <a:latin typeface="Arial"/>
                <a:ea typeface="Arial"/>
                <a:cs typeface="Arial"/>
              </a:rPr>
              <a:t>Proposed TEST scope: 6 fictional stations, 3 departments, 60 monthly tasks, up to 30 per week.</a:t>
            </a:r>
          </a:p>
        </p:txBody>
      </p:sp>
      <p:sp>
        <p:nvSpPr>
          <p:cNvPr id="17415" name="">
            <a:extLst xmlns:a="http://schemas.openxmlformats.org/drawingml/2006/main">
              <a:ext uri="{FF2B5EF4-FFF2-40B4-BE49-F238E27FC236}">
                <a16:creationId xmlns:a16="http://schemas.microsoft.com/office/drawing/2014/main" id="{2D14D815-A0F5-4378-A92D-74337236E33D}"/>
              </a:ext>
            </a:extLst>
          </p:cNvPr>
          <p:cNvSpPr>
            <a:spLocks xmlns:a="http://schemas.openxmlformats.org/drawingml/2006/main" noGrp="1"/>
          </p:cNvSpPr>
          <p:nvPr/>
        </p:nvSpPr>
        <p:spPr>
          <a:xfrm xmlns:a="http://schemas.openxmlformats.org/drawingml/2006/main">
            <a:off x="457200" y="3124200"/>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4F86"/>
                </a:solidFill>
                <a:latin typeface="Arial"/>
                <a:ea typeface="Arial"/>
                <a:cs typeface="Arial"/>
              </a:defRPr>
            </a:pPr>
            <a:r>
              <a:rPr sz="1950" b="1">
                <a:solidFill>
                  <a:srgbClr val="244F86"/>
                </a:solidFill>
                <a:latin typeface="Arial"/>
                <a:ea typeface="Arial"/>
                <a:cs typeface="Arial"/>
              </a:rPr>
              <a:t>Potential challenges and risks</a:t>
            </a:r>
          </a:p>
        </p:txBody>
      </p:sp>
      <p:sp>
        <p:nvSpPr>
          <p:cNvPr id="17416" name="">
            <a:extLst xmlns:a="http://schemas.openxmlformats.org/drawingml/2006/main">
              <a:ext uri="{FF2B5EF4-FFF2-40B4-BE49-F238E27FC236}">
                <a16:creationId xmlns:a16="http://schemas.microsoft.com/office/drawing/2014/main" id="{70A112D7-69BA-422A-A940-BC21906C5757}"/>
              </a:ext>
            </a:extLst>
          </p:cNvPr>
          <p:cNvSpPr>
            <a:spLocks xmlns:a="http://schemas.openxmlformats.org/drawingml/2006/main" noGrp="1"/>
          </p:cNvSpPr>
          <p:nvPr/>
        </p:nvSpPr>
        <p:spPr>
          <a:xfrm xmlns:a="http://schemas.openxmlformats.org/drawingml/2006/main">
            <a:off x="5686425" y="3124200"/>
            <a:ext cx="5857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244F86"/>
                </a:solidFill>
                <a:latin typeface="Arial"/>
                <a:ea typeface="Arial"/>
                <a:cs typeface="Arial"/>
              </a:defRPr>
            </a:pPr>
            <a:r>
              <a:rPr sz="1950" b="1">
                <a:solidFill>
                  <a:srgbClr val="244F86"/>
                </a:solidFill>
                <a:latin typeface="Arial"/>
                <a:ea typeface="Arial"/>
                <a:cs typeface="Arial"/>
              </a:rPr>
              <a:t>Strategies for overcoming them</a:t>
            </a:r>
          </a:p>
        </p:txBody>
      </p:sp>
      <p:sp>
        <p:nvSpPr>
          <p:cNvPr id="17417" name="">
            <a:extLst xmlns:a="http://schemas.openxmlformats.org/drawingml/2006/main">
              <a:ext uri="{FF2B5EF4-FFF2-40B4-BE49-F238E27FC236}">
                <a16:creationId xmlns:a16="http://schemas.microsoft.com/office/drawing/2014/main" id="{86DF6EB2-5B14-4FEF-90FD-14F91E32D4E5}"/>
              </a:ext>
            </a:extLst>
          </p:cNvPr>
          <p:cNvSpPr>
            <a:spLocks xmlns:a="http://schemas.openxmlformats.org/drawingml/2006/main" noGrp="1"/>
          </p:cNvSpPr>
          <p:nvPr/>
        </p:nvSpPr>
        <p:spPr>
          <a:xfrm xmlns:a="http://schemas.openxmlformats.org/drawingml/2006/main">
            <a:off x="457200" y="36099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Railway data and rule access</a:t>
            </a:r>
          </a:p>
        </p:txBody>
      </p:sp>
      <p:sp>
        <p:nvSpPr>
          <p:cNvPr id="17418" name="">
            <a:extLst xmlns:a="http://schemas.openxmlformats.org/drawingml/2006/main">
              <a:ext uri="{FF2B5EF4-FFF2-40B4-BE49-F238E27FC236}">
                <a16:creationId xmlns:a16="http://schemas.microsoft.com/office/drawing/2014/main" id="{F7CFA5D5-233E-459F-A0F2-A5A018E20B7B}"/>
              </a:ext>
            </a:extLst>
          </p:cNvPr>
          <p:cNvSpPr>
            <a:spLocks xmlns:a="http://schemas.openxmlformats.org/drawingml/2006/main" noGrp="1"/>
          </p:cNvSpPr>
          <p:nvPr/>
        </p:nvSpPr>
        <p:spPr>
          <a:xfrm xmlns:a="http://schemas.openxmlformats.org/drawingml/2006/main">
            <a:off x="5686425" y="3609975"/>
            <a:ext cx="6029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Start with labelled TEST data and approved exports.</a:t>
            </a:r>
          </a:p>
        </p:txBody>
      </p:sp>
      <p:sp>
        <p:nvSpPr>
          <p:cNvPr id="17419" name="">
            <a:extLst xmlns:a="http://schemas.openxmlformats.org/drawingml/2006/main">
              <a:ext uri="{FF2B5EF4-FFF2-40B4-BE49-F238E27FC236}">
                <a16:creationId xmlns:a16="http://schemas.microsoft.com/office/drawing/2014/main" id="{54161815-4117-4DF2-B5DE-5A94A73514D7}"/>
              </a:ext>
            </a:extLst>
          </p:cNvPr>
          <p:cNvSpPr>
            <a:spLocks xmlns:a="http://schemas.openxmlformats.org/drawingml/2006/main" noGrp="1"/>
          </p:cNvSpPr>
          <p:nvPr/>
        </p:nvSpPr>
        <p:spPr>
          <a:xfrm xmlns:a="http://schemas.openxmlformats.org/drawingml/2006/main">
            <a:off x="457200" y="41052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Conflicting work or unknown rules</a:t>
            </a:r>
          </a:p>
        </p:txBody>
      </p:sp>
      <p:sp>
        <p:nvSpPr>
          <p:cNvPr id="17420" name="">
            <a:extLst xmlns:a="http://schemas.openxmlformats.org/drawingml/2006/main">
              <a:ext uri="{FF2B5EF4-FFF2-40B4-BE49-F238E27FC236}">
                <a16:creationId xmlns:a16="http://schemas.microsoft.com/office/drawing/2014/main" id="{88E00F36-59D2-4248-823F-733F36364C50}"/>
              </a:ext>
            </a:extLst>
          </p:cNvPr>
          <p:cNvSpPr>
            <a:spLocks xmlns:a="http://schemas.openxmlformats.org/drawingml/2006/main" noGrp="1"/>
          </p:cNvSpPr>
          <p:nvPr/>
        </p:nvSpPr>
        <p:spPr>
          <a:xfrm xmlns:a="http://schemas.openxmlformats.org/drawingml/2006/main">
            <a:off x="5686425" y="4105275"/>
            <a:ext cx="6029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Block unknown combinations. Independently check plans.</a:t>
            </a:r>
          </a:p>
        </p:txBody>
      </p:sp>
      <p:sp>
        <p:nvSpPr>
          <p:cNvPr id="17421" name="">
            <a:extLst xmlns:a="http://schemas.openxmlformats.org/drawingml/2006/main">
              <a:ext uri="{FF2B5EF4-FFF2-40B4-BE49-F238E27FC236}">
                <a16:creationId xmlns:a16="http://schemas.microsoft.com/office/drawing/2014/main" id="{BFEC5B2E-8654-41BE-8837-36266EB4E29D}"/>
              </a:ext>
            </a:extLst>
          </p:cNvPr>
          <p:cNvSpPr>
            <a:spLocks xmlns:a="http://schemas.openxmlformats.org/drawingml/2006/main" noGrp="1"/>
          </p:cNvSpPr>
          <p:nvPr/>
        </p:nvSpPr>
        <p:spPr>
          <a:xfrm xmlns:a="http://schemas.openxmlformats.org/drawingml/2006/main">
            <a:off x="457200" y="46005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Growing scheduling combinations</a:t>
            </a:r>
          </a:p>
        </p:txBody>
      </p:sp>
      <p:sp>
        <p:nvSpPr>
          <p:cNvPr id="17422" name="">
            <a:extLst xmlns:a="http://schemas.openxmlformats.org/drawingml/2006/main">
              <a:ext uri="{FF2B5EF4-FFF2-40B4-BE49-F238E27FC236}">
                <a16:creationId xmlns:a16="http://schemas.microsoft.com/office/drawing/2014/main" id="{DE00AAB9-65A0-4DD8-AA05-351EFDA5D9DB}"/>
              </a:ext>
            </a:extLst>
          </p:cNvPr>
          <p:cNvSpPr>
            <a:spLocks xmlns:a="http://schemas.openxmlformats.org/drawingml/2006/main" noGrp="1"/>
          </p:cNvSpPr>
          <p:nvPr/>
        </p:nvSpPr>
        <p:spPr>
          <a:xfrm xmlns:a="http://schemas.openxmlformats.org/drawingml/2006/main">
            <a:off x="5686425" y="4600575"/>
            <a:ext cx="6029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Limit the corridor, prune candidates, benchmark growth.</a:t>
            </a:r>
          </a:p>
        </p:txBody>
      </p:sp>
      <p:sp>
        <p:nvSpPr>
          <p:cNvPr id="17423" name="">
            <a:extLst xmlns:a="http://schemas.openxmlformats.org/drawingml/2006/main">
              <a:ext uri="{FF2B5EF4-FFF2-40B4-BE49-F238E27FC236}">
                <a16:creationId xmlns:a16="http://schemas.microsoft.com/office/drawing/2014/main" id="{7192334B-35F9-489C-90D1-F79FFE5AF428}"/>
              </a:ext>
            </a:extLst>
          </p:cNvPr>
          <p:cNvSpPr>
            <a:spLocks xmlns:a="http://schemas.openxmlformats.org/drawingml/2006/main" noGrp="1"/>
          </p:cNvSpPr>
          <p:nvPr/>
        </p:nvSpPr>
        <p:spPr>
          <a:xfrm xmlns:a="http://schemas.openxmlformats.org/drawingml/2006/main">
            <a:off x="457200" y="50958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6374C"/>
                </a:solidFill>
                <a:latin typeface="Arial"/>
                <a:ea typeface="Arial"/>
                <a:cs typeface="Arial"/>
              </a:defRPr>
            </a:pPr>
            <a:r>
              <a:rPr sz="1800" b="0">
                <a:solidFill>
                  <a:srgbClr val="16374C"/>
                </a:solidFill>
                <a:latin typeface="Arial"/>
                <a:ea typeface="Arial"/>
                <a:cs typeface="Arial"/>
              </a:rPr>
              <a:t>Changing trains or resources</a:t>
            </a:r>
          </a:p>
        </p:txBody>
      </p:sp>
      <p:sp>
        <p:nvSpPr>
          <p:cNvPr id="17424" name="">
            <a:extLst xmlns:a="http://schemas.openxmlformats.org/drawingml/2006/main">
              <a:ext uri="{FF2B5EF4-FFF2-40B4-BE49-F238E27FC236}">
                <a16:creationId xmlns:a16="http://schemas.microsoft.com/office/drawing/2014/main" id="{6554B656-5B92-4121-8E3A-0BFE79F395B9}"/>
              </a:ext>
            </a:extLst>
          </p:cNvPr>
          <p:cNvSpPr>
            <a:spLocks xmlns:a="http://schemas.openxmlformats.org/drawingml/2006/main" noGrp="1"/>
          </p:cNvSpPr>
          <p:nvPr/>
        </p:nvSpPr>
        <p:spPr>
          <a:xfrm xmlns:a="http://schemas.openxmlformats.org/drawingml/2006/main">
            <a:off x="5686425" y="5095875"/>
            <a:ext cx="60293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6374C"/>
                </a:solidFill>
                <a:latin typeface="Arial"/>
                <a:ea typeface="Arial"/>
                <a:cs typeface="Arial"/>
              </a:defRPr>
            </a:pPr>
            <a:r>
              <a:rPr sz="1725" b="0">
                <a:solidFill>
                  <a:srgbClr val="16374C"/>
                </a:solidFill>
                <a:latin typeface="Arial"/>
                <a:ea typeface="Arial"/>
                <a:cs typeface="Arial"/>
              </a:rPr>
              <a:t>Mark old plans stale. Replan with fewer changes.</a:t>
            </a:r>
          </a:p>
        </p:txBody>
      </p:sp>
      <p:sp>
        <p:nvSpPr>
          <p:cNvPr id="17425" name="">
            <a:extLst xmlns:a="http://schemas.openxmlformats.org/drawingml/2006/main">
              <a:ext uri="{FF2B5EF4-FFF2-40B4-BE49-F238E27FC236}">
                <a16:creationId xmlns:a16="http://schemas.microsoft.com/office/drawing/2014/main" id="{E5E3CC92-5534-46CA-9127-444009545BEC}"/>
              </a:ext>
            </a:extLst>
          </p:cNvPr>
          <p:cNvSpPr>
            <a:spLocks xmlns:a="http://schemas.openxmlformats.org/drawingml/2006/main" noGrp="1"/>
          </p:cNvSpPr>
          <p:nvPr/>
        </p:nvSpPr>
        <p:spPr>
          <a:xfrm xmlns:a="http://schemas.openxmlformats.org/drawingml/2006/main">
            <a:off x="457200" y="576262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06D77"/>
                </a:solidFill>
                <a:latin typeface="Arial"/>
                <a:ea typeface="Arial"/>
                <a:cs typeface="Arial"/>
              </a:defRPr>
            </a:pPr>
            <a:r>
              <a:rPr sz="1725" b="1">
                <a:solidFill>
                  <a:srgbClr val="006D77"/>
                </a:solidFill>
                <a:latin typeface="Arial"/>
                <a:ea typeface="Arial"/>
                <a:cs typeface="Arial"/>
              </a:rPr>
              <a:t>Pilot path: TEST validation, then authorized shadow planning, then measured expansion.</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786E7F8-87F9-4664-8C3D-DC68D9FF3494}"/>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C1FD798D-6AFB-4FAB-883D-D0B800519D00}"/>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ct val="0"/>
              </a:spcBef>
              <a:spcAft>
                <a:spcPct val="0"/>
              </a:spcAft>
              <a:buClrTx/>
              <a:buSzTx/>
              <a:buFontTx/>
              <a:buNone/>
              <a:defRPr sz="1200" b="1">
                <a:solidFill>
                  <a:srgbClr val="FFFFFF"/>
                </a:solidFill>
                <a:latin typeface="Arial"/>
                <a:ea typeface="Arial"/>
                <a:cs typeface="Arial"/>
              </a:defRPr>
            </a:pPr>
            <a:fld id="{EE5B3003-2C54-13C6-9832-7637201064DE}" type="slidenum">
              <a:rPr sz="1200"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5F50D586-5E22-45D3-919C-8305AC048B01}"/>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125" b="1">
                <a:solidFill>
                  <a:srgbClr val="16374C"/>
                </a:solidFill>
                <a:latin typeface="Arial"/>
                <a:ea typeface="Arial"/>
                <a:cs typeface="Arial"/>
              </a:defRPr>
            </a:pPr>
            <a:r>
              <a:rPr sz="1125" b="1">
                <a:solidFill>
                  <a:srgbClr val="16374C"/>
                </a:solidFill>
                <a:latin typeface="Arial"/>
                <a:ea typeface="Arial"/>
                <a:cs typeface="Arial"/>
              </a:rPr>
              <a:t>NIRVIKALP</a:t>
            </a:r>
            <a:endParaRPr/>
          </a:p>
        </p:txBody>
      </p:sp>
      <p:pic>
        <p:nvPicPr>
          <p:cNvPr id="17438" name="Picture 10"/>
          <p:cNvPicPr>
            <a:picLocks xmlns:a="http://schemas.openxmlformats.org/drawingml/2006/main" noChangeAspect="1"/>
          </p:cNvPicPr>
          <p:nvPr/>
        </p:nvPicPr>
        <p:blipFill>
          <a:blip xmlns:r="http://schemas.openxmlformats.org/officeDocument/2006/relationships" xmlns:a="http://schemas.openxmlformats.org/drawingml/2006/main" r:embed="Rfe0e1713e698432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9937A99E-8258-4E4F-9653-0510223953DA}"/>
              </a:ext>
            </a:extLst>
          </p:cNvPr>
          <p:cNvSpPr>
            <a:spLocks xmlns:a="http://schemas.openxmlformats.org/drawingml/2006/main" noGrp="1"/>
          </p:cNvSpPr>
          <p:nvPr/>
        </p:nvSpPr>
        <p:spPr>
          <a:xfrm xmlns:a="http://schemas.openxmlformats.org/drawingml/2006/main">
            <a:off x="457200" y="1323975"/>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244F86"/>
                </a:solidFill>
                <a:latin typeface="Arial"/>
                <a:ea typeface="Arial"/>
                <a:cs typeface="Arial"/>
              </a:defRPr>
            </a:pPr>
            <a:r>
              <a:rPr sz="2100" b="1">
                <a:solidFill>
                  <a:srgbClr val="244F86"/>
                </a:solidFill>
                <a:latin typeface="Arial"/>
                <a:ea typeface="Arial"/>
                <a:cs typeface="Arial"/>
              </a:rPr>
              <a:t>Potential impact on the target audience</a:t>
            </a:r>
          </a:p>
        </p:txBody>
      </p:sp>
      <p:sp>
        <p:nvSpPr>
          <p:cNvPr id="17413" name="">
            <a:extLst xmlns:a="http://schemas.openxmlformats.org/drawingml/2006/main">
              <a:ext uri="{FF2B5EF4-FFF2-40B4-BE49-F238E27FC236}">
                <a16:creationId xmlns:a16="http://schemas.microsoft.com/office/drawing/2014/main" id="{B9292ECF-C48A-4C92-8FD2-17805863532A}"/>
              </a:ext>
            </a:extLst>
          </p:cNvPr>
          <p:cNvSpPr>
            <a:spLocks xmlns:a="http://schemas.openxmlformats.org/drawingml/2006/main" noGrp="1"/>
          </p:cNvSpPr>
          <p:nvPr/>
        </p:nvSpPr>
        <p:spPr>
          <a:xfrm xmlns:a="http://schemas.openxmlformats.org/drawingml/2006/main">
            <a:off x="457200" y="1752600"/>
            <a:ext cx="1123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6374C"/>
                </a:solidFill>
                <a:latin typeface="Arial"/>
                <a:ea typeface="Arial"/>
                <a:cs typeface="Arial"/>
              </a:defRPr>
            </a:pPr>
            <a:r>
              <a:rPr sz="2475" b="1">
                <a:solidFill>
                  <a:srgbClr val="16374C"/>
                </a:solidFill>
                <a:latin typeface="Arial"/>
                <a:ea typeface="Arial"/>
                <a:cs typeface="Arial"/>
              </a:rPr>
              <a:t>More maintenance within the available block time</a:t>
            </a:r>
          </a:p>
        </p:txBody>
      </p:sp>
      <p:sp>
        <p:nvSpPr>
          <p:cNvPr id="17414" name="">
            <a:extLst xmlns:a="http://schemas.openxmlformats.org/drawingml/2006/main">
              <a:ext uri="{FF2B5EF4-FFF2-40B4-BE49-F238E27FC236}">
                <a16:creationId xmlns:a16="http://schemas.microsoft.com/office/drawing/2014/main" id="{A9E50372-139B-4DD0-8DC7-FDAF109C051D}"/>
              </a:ext>
            </a:extLst>
          </p:cNvPr>
          <p:cNvSpPr>
            <a:spLocks xmlns:a="http://schemas.openxmlformats.org/drawingml/2006/main" noGrp="1"/>
          </p:cNvSpPr>
          <p:nvPr/>
        </p:nvSpPr>
        <p:spPr>
          <a:xfrm xmlns:a="http://schemas.openxmlformats.org/drawingml/2006/main">
            <a:off x="457200" y="224790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26472"/>
                </a:solidFill>
                <a:latin typeface="Arial"/>
                <a:ea typeface="Arial"/>
                <a:cs typeface="Arial"/>
              </a:defRPr>
            </a:pPr>
            <a:r>
              <a:rPr sz="1800" b="0">
                <a:solidFill>
                  <a:srgbClr val="526472"/>
                </a:solidFill>
                <a:latin typeface="Arial"/>
                <a:ea typeface="Arial"/>
                <a:cs typeface="Arial"/>
              </a:rPr>
              <a:t>Illustrative example. Setup 10 min, testing 15 min, restoration 10 min in both cases.</a:t>
            </a:r>
          </a:p>
        </p:txBody>
      </p:sp>
      <p:sp>
        <p:nvSpPr>
          <p:cNvPr id="17415" name="">
            <a:extLst xmlns:a="http://schemas.openxmlformats.org/drawingml/2006/main">
              <a:ext uri="{FF2B5EF4-FFF2-40B4-BE49-F238E27FC236}">
                <a16:creationId xmlns:a16="http://schemas.microsoft.com/office/drawing/2014/main" id="{14185753-A1FB-452C-9A76-A289EBE1D549}"/>
              </a:ext>
            </a:extLst>
          </p:cNvPr>
          <p:cNvSpPr>
            <a:spLocks xmlns:a="http://schemas.openxmlformats.org/drawingml/2006/main" noGrp="1"/>
          </p:cNvSpPr>
          <p:nvPr/>
        </p:nvSpPr>
        <p:spPr>
          <a:xfrm xmlns:a="http://schemas.openxmlformats.org/drawingml/2006/main">
            <a:off x="457200" y="2895600"/>
            <a:ext cx="214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374C"/>
                </a:solidFill>
                <a:latin typeface="Arial"/>
                <a:ea typeface="Arial"/>
                <a:cs typeface="Arial"/>
              </a:defRPr>
            </a:pPr>
            <a:r>
              <a:rPr sz="1800" b="1">
                <a:solidFill>
                  <a:srgbClr val="16374C"/>
                </a:solidFill>
                <a:latin typeface="Arial"/>
                <a:ea typeface="Arial"/>
                <a:cs typeface="Arial"/>
              </a:rPr>
              <a:t>Sequential work</a:t>
            </a:r>
          </a:p>
        </p:txBody>
      </p:sp>
      <p:sp>
        <p:nvSpPr>
          <p:cNvPr id="17416" name="">
            <a:extLst xmlns:a="http://schemas.openxmlformats.org/drawingml/2006/main">
              <a:ext uri="{FF2B5EF4-FFF2-40B4-BE49-F238E27FC236}">
                <a16:creationId xmlns:a16="http://schemas.microsoft.com/office/drawing/2014/main" id="{4664D010-16F1-4942-9313-2B1935D765A5}"/>
              </a:ext>
            </a:extLst>
          </p:cNvPr>
          <p:cNvSpPr>
            <a:spLocks xmlns:a="http://schemas.openxmlformats.org/drawingml/2006/main" noGrp="1"/>
          </p:cNvSpPr>
          <p:nvPr/>
        </p:nvSpPr>
        <p:spPr>
          <a:xfrm xmlns:a="http://schemas.openxmlformats.org/drawingml/2006/main">
            <a:off x="457200" y="3943350"/>
            <a:ext cx="2257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374C"/>
                </a:solidFill>
                <a:latin typeface="Arial"/>
                <a:ea typeface="Arial"/>
                <a:cs typeface="Arial"/>
              </a:defRPr>
            </a:pPr>
            <a:r>
              <a:rPr sz="1800" b="1">
                <a:solidFill>
                  <a:srgbClr val="16374C"/>
                </a:solidFill>
                <a:latin typeface="Arial"/>
                <a:ea typeface="Arial"/>
                <a:cs typeface="Arial"/>
              </a:rPr>
              <a:t>Compatible parallel work</a:t>
            </a:r>
          </a:p>
        </p:txBody>
      </p:sp>
      <p:sp>
        <p:nvSpPr>
          <p:cNvPr id="17417" name="">
            <a:extLst xmlns:a="http://schemas.openxmlformats.org/drawingml/2006/main">
              <a:ext uri="{FF2B5EF4-FFF2-40B4-BE49-F238E27FC236}">
                <a16:creationId xmlns:a16="http://schemas.microsoft.com/office/drawing/2014/main" id="{AB06301C-3840-4A02-B991-9A4BC3A15366}"/>
              </a:ext>
            </a:extLst>
          </p:cNvPr>
          <p:cNvSpPr>
            <a:spLocks xmlns:a="http://schemas.openxmlformats.org/drawingml/2006/main" noGrp="1"/>
          </p:cNvSpPr>
          <p:nvPr/>
        </p:nvSpPr>
        <p:spPr>
          <a:xfrm xmlns:a="http://schemas.openxmlformats.org/drawingml/2006/main">
            <a:off x="2914650" y="2819400"/>
            <a:ext cx="638175" cy="495300"/>
          </a:xfrm>
          <a:prstGeom xmlns:a="http://schemas.openxmlformats.org/drawingml/2006/main" prst="rect">
            <a:avLst/>
          </a:prstGeom>
          <a:solidFill xmlns:a="http://schemas.openxmlformats.org/drawingml/2006/main">
            <a:srgbClr val="E6EDF3"/>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10</a:t>
            </a:r>
          </a:p>
        </p:txBody>
      </p:sp>
      <p:sp>
        <p:nvSpPr>
          <p:cNvPr id="17418" name="">
            <a:extLst xmlns:a="http://schemas.openxmlformats.org/drawingml/2006/main">
              <a:ext uri="{FF2B5EF4-FFF2-40B4-BE49-F238E27FC236}">
                <a16:creationId xmlns:a16="http://schemas.microsoft.com/office/drawing/2014/main" id="{9FC8EF7E-DB3F-4267-B32B-5E4E4402DBDC}"/>
              </a:ext>
            </a:extLst>
          </p:cNvPr>
          <p:cNvSpPr>
            <a:spLocks xmlns:a="http://schemas.openxmlformats.org/drawingml/2006/main" noGrp="1"/>
          </p:cNvSpPr>
          <p:nvPr/>
        </p:nvSpPr>
        <p:spPr>
          <a:xfrm xmlns:a="http://schemas.openxmlformats.org/drawingml/2006/main">
            <a:off x="3552825" y="2819400"/>
            <a:ext cx="2552700" cy="495300"/>
          </a:xfrm>
          <a:prstGeom xmlns:a="http://schemas.openxmlformats.org/drawingml/2006/main" prst="rect">
            <a:avLst/>
          </a:prstGeom>
          <a:solidFill xmlns:a="http://schemas.openxmlformats.org/drawingml/2006/main">
            <a:srgbClr val="DBE8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Task A: 40</a:t>
            </a:r>
          </a:p>
        </p:txBody>
      </p:sp>
      <p:sp>
        <p:nvSpPr>
          <p:cNvPr id="17419" name="">
            <a:extLst xmlns:a="http://schemas.openxmlformats.org/drawingml/2006/main">
              <a:ext uri="{FF2B5EF4-FFF2-40B4-BE49-F238E27FC236}">
                <a16:creationId xmlns:a16="http://schemas.microsoft.com/office/drawing/2014/main" id="{8F055F8F-7437-45F6-9C93-D0EC3DA4A300}"/>
              </a:ext>
            </a:extLst>
          </p:cNvPr>
          <p:cNvSpPr>
            <a:spLocks xmlns:a="http://schemas.openxmlformats.org/drawingml/2006/main" noGrp="1"/>
          </p:cNvSpPr>
          <p:nvPr/>
        </p:nvSpPr>
        <p:spPr>
          <a:xfrm xmlns:a="http://schemas.openxmlformats.org/drawingml/2006/main">
            <a:off x="6105525" y="2819400"/>
            <a:ext cx="1595438" cy="495300"/>
          </a:xfrm>
          <a:prstGeom xmlns:a="http://schemas.openxmlformats.org/drawingml/2006/main" prst="rect">
            <a:avLst/>
          </a:prstGeom>
          <a:solidFill xmlns:a="http://schemas.openxmlformats.org/drawingml/2006/main">
            <a:srgbClr val="D3EBE9"/>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Task B: 25</a:t>
            </a:r>
          </a:p>
        </p:txBody>
      </p:sp>
      <p:sp>
        <p:nvSpPr>
          <p:cNvPr id="17420" name="">
            <a:extLst xmlns:a="http://schemas.openxmlformats.org/drawingml/2006/main">
              <a:ext uri="{FF2B5EF4-FFF2-40B4-BE49-F238E27FC236}">
                <a16:creationId xmlns:a16="http://schemas.microsoft.com/office/drawing/2014/main" id="{FD622929-79D0-4618-8F3D-F3AFAFC15F1E}"/>
              </a:ext>
            </a:extLst>
          </p:cNvPr>
          <p:cNvSpPr>
            <a:spLocks xmlns:a="http://schemas.openxmlformats.org/drawingml/2006/main" noGrp="1"/>
          </p:cNvSpPr>
          <p:nvPr/>
        </p:nvSpPr>
        <p:spPr>
          <a:xfrm xmlns:a="http://schemas.openxmlformats.org/drawingml/2006/main">
            <a:off x="7700963" y="2819400"/>
            <a:ext cx="957263" cy="495300"/>
          </a:xfrm>
          <a:prstGeom xmlns:a="http://schemas.openxmlformats.org/drawingml/2006/main" prst="rect">
            <a:avLst/>
          </a:prstGeom>
          <a:solidFill xmlns:a="http://schemas.openxmlformats.org/drawingml/2006/main">
            <a:srgbClr val="F5E7CF"/>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15</a:t>
            </a:r>
          </a:p>
        </p:txBody>
      </p:sp>
      <p:sp>
        <p:nvSpPr>
          <p:cNvPr id="17421" name="">
            <a:extLst xmlns:a="http://schemas.openxmlformats.org/drawingml/2006/main">
              <a:ext uri="{FF2B5EF4-FFF2-40B4-BE49-F238E27FC236}">
                <a16:creationId xmlns:a16="http://schemas.microsoft.com/office/drawing/2014/main" id="{D5B83A0B-1B45-4D4D-A015-C3D4AF87CBAE}"/>
              </a:ext>
            </a:extLst>
          </p:cNvPr>
          <p:cNvSpPr>
            <a:spLocks xmlns:a="http://schemas.openxmlformats.org/drawingml/2006/main" noGrp="1"/>
          </p:cNvSpPr>
          <p:nvPr/>
        </p:nvSpPr>
        <p:spPr>
          <a:xfrm xmlns:a="http://schemas.openxmlformats.org/drawingml/2006/main">
            <a:off x="8658225" y="2819400"/>
            <a:ext cx="638175" cy="495300"/>
          </a:xfrm>
          <a:prstGeom xmlns:a="http://schemas.openxmlformats.org/drawingml/2006/main" prst="rect">
            <a:avLst/>
          </a:prstGeom>
          <a:solidFill xmlns:a="http://schemas.openxmlformats.org/drawingml/2006/main">
            <a:srgbClr val="E6EDF3"/>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10</a:t>
            </a:r>
          </a:p>
        </p:txBody>
      </p:sp>
      <p:sp>
        <p:nvSpPr>
          <p:cNvPr id="17422" name="">
            <a:extLst xmlns:a="http://schemas.openxmlformats.org/drawingml/2006/main">
              <a:ext uri="{FF2B5EF4-FFF2-40B4-BE49-F238E27FC236}">
                <a16:creationId xmlns:a16="http://schemas.microsoft.com/office/drawing/2014/main" id="{9597A4AD-BC68-4F6C-A2A9-A29656F5BE6B}"/>
              </a:ext>
            </a:extLst>
          </p:cNvPr>
          <p:cNvSpPr>
            <a:spLocks xmlns:a="http://schemas.openxmlformats.org/drawingml/2006/main" noGrp="1"/>
          </p:cNvSpPr>
          <p:nvPr/>
        </p:nvSpPr>
        <p:spPr>
          <a:xfrm xmlns:a="http://schemas.openxmlformats.org/drawingml/2006/main">
            <a:off x="9667875" y="2886075"/>
            <a:ext cx="200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6374C"/>
                </a:solidFill>
                <a:latin typeface="Arial"/>
                <a:ea typeface="Arial"/>
                <a:cs typeface="Arial"/>
              </a:defRPr>
            </a:pPr>
            <a:r>
              <a:rPr sz="2325" b="1">
                <a:solidFill>
                  <a:srgbClr val="16374C"/>
                </a:solidFill>
                <a:latin typeface="Arial"/>
                <a:ea typeface="Arial"/>
                <a:cs typeface="Arial"/>
              </a:rPr>
              <a:t>100 min</a:t>
            </a:r>
          </a:p>
        </p:txBody>
      </p:sp>
      <p:sp>
        <p:nvSpPr>
          <p:cNvPr id="17423" name="">
            <a:extLst xmlns:a="http://schemas.openxmlformats.org/drawingml/2006/main">
              <a:ext uri="{FF2B5EF4-FFF2-40B4-BE49-F238E27FC236}">
                <a16:creationId xmlns:a16="http://schemas.microsoft.com/office/drawing/2014/main" id="{59BDB6E6-EE27-4B5B-8DBB-8AE266A4D0AD}"/>
              </a:ext>
            </a:extLst>
          </p:cNvPr>
          <p:cNvSpPr>
            <a:spLocks xmlns:a="http://schemas.openxmlformats.org/drawingml/2006/main" noGrp="1"/>
          </p:cNvSpPr>
          <p:nvPr/>
        </p:nvSpPr>
        <p:spPr>
          <a:xfrm xmlns:a="http://schemas.openxmlformats.org/drawingml/2006/main">
            <a:off x="2914650" y="3876675"/>
            <a:ext cx="638175" cy="495300"/>
          </a:xfrm>
          <a:prstGeom xmlns:a="http://schemas.openxmlformats.org/drawingml/2006/main" prst="rect">
            <a:avLst/>
          </a:prstGeom>
          <a:solidFill xmlns:a="http://schemas.openxmlformats.org/drawingml/2006/main">
            <a:srgbClr val="E6EDF3"/>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10</a:t>
            </a:r>
          </a:p>
        </p:txBody>
      </p:sp>
      <p:sp>
        <p:nvSpPr>
          <p:cNvPr id="17424" name="">
            <a:extLst xmlns:a="http://schemas.openxmlformats.org/drawingml/2006/main">
              <a:ext uri="{FF2B5EF4-FFF2-40B4-BE49-F238E27FC236}">
                <a16:creationId xmlns:a16="http://schemas.microsoft.com/office/drawing/2014/main" id="{2F008A71-27F2-4192-827F-6733E8F7AD9D}"/>
              </a:ext>
            </a:extLst>
          </p:cNvPr>
          <p:cNvSpPr>
            <a:spLocks xmlns:a="http://schemas.openxmlformats.org/drawingml/2006/main" noGrp="1"/>
          </p:cNvSpPr>
          <p:nvPr/>
        </p:nvSpPr>
        <p:spPr>
          <a:xfrm xmlns:a="http://schemas.openxmlformats.org/drawingml/2006/main">
            <a:off x="3552825" y="3876675"/>
            <a:ext cx="2552700" cy="495300"/>
          </a:xfrm>
          <a:prstGeom xmlns:a="http://schemas.openxmlformats.org/drawingml/2006/main" prst="rect">
            <a:avLst/>
          </a:prstGeom>
          <a:solidFill xmlns:a="http://schemas.openxmlformats.org/drawingml/2006/main">
            <a:srgbClr val="DBE8F5"/>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Task A: 40</a:t>
            </a:r>
          </a:p>
        </p:txBody>
      </p:sp>
      <p:sp>
        <p:nvSpPr>
          <p:cNvPr id="17425" name="">
            <a:extLst xmlns:a="http://schemas.openxmlformats.org/drawingml/2006/main">
              <a:ext uri="{FF2B5EF4-FFF2-40B4-BE49-F238E27FC236}">
                <a16:creationId xmlns:a16="http://schemas.microsoft.com/office/drawing/2014/main" id="{327350E4-7FDE-48AF-838A-8CE0F2527147}"/>
              </a:ext>
            </a:extLst>
          </p:cNvPr>
          <p:cNvSpPr>
            <a:spLocks xmlns:a="http://schemas.openxmlformats.org/drawingml/2006/main" noGrp="1"/>
          </p:cNvSpPr>
          <p:nvPr/>
        </p:nvSpPr>
        <p:spPr>
          <a:xfrm xmlns:a="http://schemas.openxmlformats.org/drawingml/2006/main">
            <a:off x="3552825" y="4410075"/>
            <a:ext cx="1595438" cy="495300"/>
          </a:xfrm>
          <a:prstGeom xmlns:a="http://schemas.openxmlformats.org/drawingml/2006/main" prst="rect">
            <a:avLst/>
          </a:prstGeom>
          <a:solidFill xmlns:a="http://schemas.openxmlformats.org/drawingml/2006/main">
            <a:srgbClr val="D3EBE9"/>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Task B: 25</a:t>
            </a:r>
          </a:p>
        </p:txBody>
      </p:sp>
      <p:sp>
        <p:nvSpPr>
          <p:cNvPr id="17426" name="">
            <a:extLst xmlns:a="http://schemas.openxmlformats.org/drawingml/2006/main">
              <a:ext uri="{FF2B5EF4-FFF2-40B4-BE49-F238E27FC236}">
                <a16:creationId xmlns:a16="http://schemas.microsoft.com/office/drawing/2014/main" id="{366C0A90-67B6-4E6E-9A14-9292127B11C3}"/>
              </a:ext>
            </a:extLst>
          </p:cNvPr>
          <p:cNvSpPr>
            <a:spLocks xmlns:a="http://schemas.openxmlformats.org/drawingml/2006/main" noGrp="1"/>
          </p:cNvSpPr>
          <p:nvPr/>
        </p:nvSpPr>
        <p:spPr>
          <a:xfrm xmlns:a="http://schemas.openxmlformats.org/drawingml/2006/main">
            <a:off x="6105525" y="3876675"/>
            <a:ext cx="957263" cy="495300"/>
          </a:xfrm>
          <a:prstGeom xmlns:a="http://schemas.openxmlformats.org/drawingml/2006/main" prst="rect">
            <a:avLst/>
          </a:prstGeom>
          <a:solidFill xmlns:a="http://schemas.openxmlformats.org/drawingml/2006/main">
            <a:srgbClr val="F5E7CF"/>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15</a:t>
            </a:r>
          </a:p>
        </p:txBody>
      </p:sp>
      <p:sp>
        <p:nvSpPr>
          <p:cNvPr id="17427" name="">
            <a:extLst xmlns:a="http://schemas.openxmlformats.org/drawingml/2006/main">
              <a:ext uri="{FF2B5EF4-FFF2-40B4-BE49-F238E27FC236}">
                <a16:creationId xmlns:a16="http://schemas.microsoft.com/office/drawing/2014/main" id="{D72DDC1D-04C4-4ED3-B69E-43D7402CD537}"/>
              </a:ext>
            </a:extLst>
          </p:cNvPr>
          <p:cNvSpPr>
            <a:spLocks xmlns:a="http://schemas.openxmlformats.org/drawingml/2006/main" noGrp="1"/>
          </p:cNvSpPr>
          <p:nvPr/>
        </p:nvSpPr>
        <p:spPr>
          <a:xfrm xmlns:a="http://schemas.openxmlformats.org/drawingml/2006/main">
            <a:off x="7062788" y="3876675"/>
            <a:ext cx="638175" cy="495300"/>
          </a:xfrm>
          <a:prstGeom xmlns:a="http://schemas.openxmlformats.org/drawingml/2006/main" prst="rect">
            <a:avLst/>
          </a:prstGeom>
          <a:solidFill xmlns:a="http://schemas.openxmlformats.org/drawingml/2006/main">
            <a:srgbClr val="E6EDF3"/>
          </a:solidFill>
          <a:ln xmlns:a="http://schemas.openxmlformats.org/drawingml/2006/main" w="9525">
            <a:solidFill>
              <a:srgbClr val="006D77"/>
            </a:solid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6374C"/>
                </a:solidFill>
                <a:latin typeface="Arial"/>
                <a:ea typeface="Arial"/>
                <a:cs typeface="Arial"/>
              </a:defRPr>
            </a:pPr>
            <a:r>
              <a:rPr sz="1500" b="1">
                <a:solidFill>
                  <a:srgbClr val="16374C"/>
                </a:solidFill>
                <a:latin typeface="Arial"/>
                <a:ea typeface="Arial"/>
                <a:cs typeface="Arial"/>
              </a:rPr>
              <a:t>10</a:t>
            </a:r>
          </a:p>
        </p:txBody>
      </p:sp>
      <p:sp>
        <p:nvSpPr>
          <p:cNvPr id="17428" name="">
            <a:extLst xmlns:a="http://schemas.openxmlformats.org/drawingml/2006/main">
              <a:ext uri="{FF2B5EF4-FFF2-40B4-BE49-F238E27FC236}">
                <a16:creationId xmlns:a16="http://schemas.microsoft.com/office/drawing/2014/main" id="{360D68EA-1158-45FD-B726-92AD004CE74E}"/>
              </a:ext>
            </a:extLst>
          </p:cNvPr>
          <p:cNvSpPr>
            <a:spLocks xmlns:a="http://schemas.openxmlformats.org/drawingml/2006/main" noGrp="1"/>
          </p:cNvSpPr>
          <p:nvPr/>
        </p:nvSpPr>
        <p:spPr>
          <a:xfrm xmlns:a="http://schemas.openxmlformats.org/drawingml/2006/main">
            <a:off x="8191500" y="3933825"/>
            <a:ext cx="17335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75 min</a:t>
            </a:r>
          </a:p>
        </p:txBody>
      </p:sp>
      <p:sp>
        <p:nvSpPr>
          <p:cNvPr id="17429" name="">
            <a:extLst xmlns:a="http://schemas.openxmlformats.org/drawingml/2006/main">
              <a:ext uri="{FF2B5EF4-FFF2-40B4-BE49-F238E27FC236}">
                <a16:creationId xmlns:a16="http://schemas.microsoft.com/office/drawing/2014/main" id="{FDC8E9F9-7AD2-4623-96D6-20221B500229}"/>
              </a:ext>
            </a:extLst>
          </p:cNvPr>
          <p:cNvSpPr>
            <a:spLocks xmlns:a="http://schemas.openxmlformats.org/drawingml/2006/main" noGrp="1"/>
          </p:cNvSpPr>
          <p:nvPr/>
        </p:nvSpPr>
        <p:spPr>
          <a:xfrm xmlns:a="http://schemas.openxmlformats.org/drawingml/2006/main">
            <a:off x="8191500" y="43815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6D77"/>
                </a:solidFill>
                <a:latin typeface="Arial"/>
                <a:ea typeface="Arial"/>
                <a:cs typeface="Arial"/>
              </a:defRPr>
            </a:pPr>
            <a:r>
              <a:rPr sz="2175" b="1">
                <a:solidFill>
                  <a:srgbClr val="006D77"/>
                </a:solidFill>
                <a:latin typeface="Arial"/>
                <a:ea typeface="Arial"/>
                <a:cs typeface="Arial"/>
              </a:rPr>
              <a:t>25 min released</a:t>
            </a:r>
          </a:p>
        </p:txBody>
      </p:sp>
      <p:sp>
        <p:nvSpPr>
          <p:cNvPr id="17430" name="">
            <a:extLst xmlns:a="http://schemas.openxmlformats.org/drawingml/2006/main">
              <a:ext uri="{FF2B5EF4-FFF2-40B4-BE49-F238E27FC236}">
                <a16:creationId xmlns:a16="http://schemas.microsoft.com/office/drawing/2014/main" id="{92F8488F-3128-4D0B-9AE2-CB8E9943BF78}"/>
              </a:ext>
            </a:extLst>
          </p:cNvPr>
          <p:cNvSpPr>
            <a:spLocks xmlns:a="http://schemas.openxmlformats.org/drawingml/2006/main" noGrp="1"/>
          </p:cNvSpPr>
          <p:nvPr/>
        </p:nvSpPr>
        <p:spPr>
          <a:xfrm xmlns:a="http://schemas.openxmlformats.org/drawingml/2006/main">
            <a:off x="457200" y="5038725"/>
            <a:ext cx="1123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26472"/>
                </a:solidFill>
                <a:latin typeface="Arial"/>
                <a:ea typeface="Arial"/>
                <a:cs typeface="Arial"/>
              </a:defRPr>
            </a:pPr>
            <a:r>
              <a:rPr sz="1575" b="0">
                <a:solidFill>
                  <a:srgbClr val="526472"/>
                </a:solidFill>
                <a:latin typeface="Arial"/>
                <a:ea typeface="Arial"/>
                <a:cs typeface="Arial"/>
              </a:rPr>
              <a:t>Only when compatibility, independent resources and common test/restoration assumptions hold.</a:t>
            </a:r>
          </a:p>
        </p:txBody>
      </p:sp>
      <p:sp>
        <p:nvSpPr>
          <p:cNvPr id="17431" name="">
            <a:extLst xmlns:a="http://schemas.openxmlformats.org/drawingml/2006/main">
              <a:ext uri="{FF2B5EF4-FFF2-40B4-BE49-F238E27FC236}">
                <a16:creationId xmlns:a16="http://schemas.microsoft.com/office/drawing/2014/main" id="{CF2532E3-2C8E-4616-B848-3BAC1876CECA}"/>
              </a:ext>
            </a:extLst>
          </p:cNvPr>
          <p:cNvSpPr>
            <a:spLocks xmlns:a="http://schemas.openxmlformats.org/drawingml/2006/main" noGrp="1"/>
          </p:cNvSpPr>
          <p:nvPr/>
        </p:nvSpPr>
        <p:spPr>
          <a:xfrm xmlns:a="http://schemas.openxmlformats.org/drawingml/2006/main">
            <a:off x="457200" y="55054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6374C"/>
                </a:solidFill>
                <a:latin typeface="Arial"/>
                <a:ea typeface="Arial"/>
                <a:cs typeface="Arial"/>
              </a:defRPr>
            </a:pPr>
            <a:r>
              <a:rPr sz="1800" b="1">
                <a:solidFill>
                  <a:srgbClr val="16374C"/>
                </a:solidFill>
                <a:latin typeface="Arial"/>
                <a:ea typeface="Arial"/>
                <a:cs typeface="Arial"/>
              </a:rPr>
              <a:t>Benefits: less occupation for operations, coordinated crews, and traceable review decisions.</a:t>
            </a:r>
          </a:p>
        </p:txBody>
      </p:sp>
      <p:sp>
        <p:nvSpPr>
          <p:cNvPr id="17432" name="">
            <a:extLst xmlns:a="http://schemas.openxmlformats.org/drawingml/2006/main">
              <a:ext uri="{FF2B5EF4-FFF2-40B4-BE49-F238E27FC236}">
                <a16:creationId xmlns:a16="http://schemas.microsoft.com/office/drawing/2014/main" id="{C2DB6390-BBB2-49E9-B5B0-FBA583FA0227}"/>
              </a:ext>
            </a:extLst>
          </p:cNvPr>
          <p:cNvSpPr>
            <a:spLocks xmlns:a="http://schemas.openxmlformats.org/drawingml/2006/main" noGrp="1"/>
          </p:cNvSpPr>
          <p:nvPr/>
        </p:nvSpPr>
        <p:spPr>
          <a:xfrm xmlns:a="http://schemas.openxmlformats.org/drawingml/2006/main">
            <a:off x="457200" y="5981700"/>
            <a:ext cx="11239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26472"/>
                </a:solidFill>
                <a:latin typeface="Arial"/>
                <a:ea typeface="Arial"/>
                <a:cs typeface="Arial"/>
              </a:defRPr>
            </a:pPr>
            <a:r>
              <a:rPr sz="1425" b="0">
                <a:solidFill>
                  <a:srgbClr val="526472"/>
                </a:solidFill>
                <a:latin typeface="Arial"/>
                <a:ea typeface="Arial"/>
                <a:cs typeface="Arial"/>
              </a:rPr>
              <a:t>Pilot measures: completed work, occupied minutes, missed deadlines and changed assignments. No field savings claimed.</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94D18F78-775B-4804-81B9-A0CA07027346}"/>
              </a:ext>
            </a:extLst>
          </p:cNvPr>
          <p:cNvSpPr>
            <a:spLocks xmlns:a="http://schemas.openxmlformats.org/drawingml/2006/main" noGrp="1"/>
          </p:cNvSpPr>
          <p:nvPr>
            <p:ph type="title" idx="0"/>
          </p:nvPr>
        </p:nvSpPr>
        <p:spPr>
          <a:xfrm xmlns:a="http://schemas.openxmlformats.org/drawingml/2006/main">
            <a:off x="1781175" y="238125"/>
            <a:ext cx="7886700" cy="762000"/>
          </a:xfrm>
        </p:spPr>
        <p:txBody>
          <a:bodyPr xmlns:a="http://schemas.openxmlformats.org/drawingml/2006/main" anchor="ctr">
            <a:noAutofit/>
          </a:bodyPr>
          <a:lstStyle xmlns:a="http://schemas.openxmlformats.org/drawingml/2006/main"/>
          <a:p xmlns:a="http://schemas.openxmlformats.org/drawingml/2006/main">
            <a:pPr algn="ctr">
              <a:buNone/>
              <a:defRPr sz="2850" b="1">
                <a:solidFill>
                  <a:srgbClr val="000000"/>
                </a:solidFill>
                <a:latin typeface="Times New Roman"/>
                <a:ea typeface="Times New Roman"/>
                <a:cs typeface="Times New Roman"/>
              </a:defRPr>
            </a:pPr>
            <a:r>
              <a:rPr sz="285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18F6CCFE-ABE5-45C8-A0E5-C062D8266F48}"/>
              </a:ext>
            </a:extLst>
          </p:cNvPr>
          <p:cNvSpPr>
            <a:spLocks xmlns:a="http://schemas.openxmlformats.org/drawingml/2006/main" noGrp="1"/>
          </p:cNvSpPr>
          <p:nvPr>
            <p:ph type="sldNum" idx="12"/>
          </p:nvPr>
        </p:nvSpPr>
        <p:spPr>
          <a:xfrm xmlns:a="http://schemas.openxmlformats.org/drawingml/2006/main">
            <a:off x="11239500" y="6438900"/>
            <a:ext cx="381000" cy="238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ct val="0"/>
              </a:spcBef>
              <a:spcAft>
                <a:spcPct val="0"/>
              </a:spcAft>
              <a:buClrTx/>
              <a:buSzTx/>
              <a:buFontTx/>
              <a:buNone/>
              <a:defRPr sz="1200" b="1">
                <a:solidFill>
                  <a:srgbClr val="FFFFFF"/>
                </a:solidFill>
                <a:latin typeface="Arial"/>
                <a:ea typeface="Arial"/>
                <a:cs typeface="Arial"/>
              </a:defRPr>
            </a:pPr>
            <a:fld id="{8C630A04-5A25-9E0C-9436-126091DB86B3}" type="slidenum">
              <a:rPr sz="1200"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D202A987-54C5-4B95-B177-12E68C78F91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125" b="1">
                <a:solidFill>
                  <a:srgbClr val="16374C"/>
                </a:solidFill>
                <a:latin typeface="Arial"/>
                <a:ea typeface="Arial"/>
                <a:cs typeface="Arial"/>
              </a:defRPr>
            </a:pPr>
            <a:r>
              <a:rPr sz="1125" b="1">
                <a:solidFill>
                  <a:srgbClr val="16374C"/>
                </a:solidFill>
                <a:latin typeface="Arial"/>
                <a:ea typeface="Arial"/>
                <a:cs typeface="Arial"/>
              </a:rPr>
              <a:t>NIRVIKALP</a:t>
            </a:r>
            <a:endParaRPr/>
          </a:p>
        </p:txBody>
      </p:sp>
      <p:pic>
        <p:nvPicPr>
          <p:cNvPr id="17433" name="Picture 11"/>
          <p:cNvPicPr>
            <a:picLocks xmlns:a="http://schemas.openxmlformats.org/drawingml/2006/main" noChangeAspect="1"/>
          </p:cNvPicPr>
          <p:nvPr/>
        </p:nvPicPr>
        <p:blipFill>
          <a:blip xmlns:r="http://schemas.openxmlformats.org/officeDocument/2006/relationships" xmlns:a="http://schemas.openxmlformats.org/drawingml/2006/main" r:embed="R22a2bc6c973e41b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AEE52D80-D7A5-4A8D-A0F6-91C47E7E41A5}"/>
              </a:ext>
            </a:extLst>
          </p:cNvPr>
          <p:cNvSpPr>
            <a:spLocks xmlns:a="http://schemas.openxmlformats.org/drawingml/2006/main" noGrp="1"/>
          </p:cNvSpPr>
          <p:nvPr/>
        </p:nvSpPr>
        <p:spPr>
          <a:xfrm xmlns:a="http://schemas.openxmlformats.org/drawingml/2006/main">
            <a:off x="457200" y="1362075"/>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244F86"/>
                </a:solidFill>
                <a:latin typeface="Arial"/>
                <a:ea typeface="Arial"/>
                <a:cs typeface="Arial"/>
              </a:defRPr>
            </a:pPr>
            <a:r>
              <a:rPr sz="2175" b="1">
                <a:solidFill>
                  <a:srgbClr val="244F86"/>
                </a:solidFill>
                <a:latin typeface="Arial"/>
                <a:ea typeface="Arial"/>
                <a:cs typeface="Arial"/>
              </a:rPr>
              <a:t>Research findings that shape the solution</a:t>
            </a:r>
          </a:p>
        </p:txBody>
      </p:sp>
      <p:sp>
        <p:nvSpPr>
          <p:cNvPr id="17413" name="">
            <a:extLst xmlns:a="http://schemas.openxmlformats.org/drawingml/2006/main">
              <a:ext uri="{FF2B5EF4-FFF2-40B4-BE49-F238E27FC236}">
                <a16:creationId xmlns:a16="http://schemas.microsoft.com/office/drawing/2014/main" id="{82C13D91-C6FC-4FFE-8A8A-85CEFA77DE62}"/>
              </a:ext>
            </a:extLst>
          </p:cNvPr>
          <p:cNvSpPr>
            <a:spLocks xmlns:a="http://schemas.openxmlformats.org/drawingml/2006/main" noGrp="1"/>
          </p:cNvSpPr>
          <p:nvPr/>
        </p:nvSpPr>
        <p:spPr>
          <a:xfrm xmlns:a="http://schemas.openxmlformats.org/drawingml/2006/main">
            <a:off x="457200" y="1781175"/>
            <a:ext cx="1123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16374C"/>
                </a:solidFill>
                <a:latin typeface="Arial"/>
                <a:ea typeface="Arial"/>
                <a:cs typeface="Arial"/>
              </a:defRPr>
            </a:pPr>
            <a:r>
              <a:rPr sz="2100" b="1">
                <a:solidFill>
                  <a:srgbClr val="16374C"/>
                </a:solidFill>
                <a:latin typeface="Arial"/>
                <a:ea typeface="Arial"/>
                <a:cs typeface="Arial"/>
              </a:rPr>
              <a:t>Joint planning already exists. SAMARATH proposes better selection, explanations and revisions within that process.</a:t>
            </a:r>
          </a:p>
        </p:txBody>
      </p:sp>
      <p:sp>
        <p:nvSpPr>
          <p:cNvPr id="17414" name="">
            <a:extLst xmlns:a="http://schemas.openxmlformats.org/drawingml/2006/main">
              <a:ext uri="{FF2B5EF4-FFF2-40B4-BE49-F238E27FC236}">
                <a16:creationId xmlns:a16="http://schemas.microsoft.com/office/drawing/2014/main" id="{C53C705F-3F87-4D13-AA34-DBFE08FCF773}"/>
              </a:ext>
            </a:extLst>
          </p:cNvPr>
          <p:cNvSpPr>
            <a:spLocks xmlns:a="http://schemas.openxmlformats.org/drawingml/2006/main" noGrp="1"/>
          </p:cNvSpPr>
          <p:nvPr/>
        </p:nvSpPr>
        <p:spPr>
          <a:xfrm xmlns:a="http://schemas.openxmlformats.org/drawingml/2006/main">
            <a:off x="457200" y="268605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4F86"/>
                </a:solidFill>
                <a:latin typeface="Arial"/>
                <a:ea typeface="Arial"/>
                <a:cs typeface="Arial"/>
              </a:defRPr>
            </a:pPr>
            <a:r>
              <a:rPr sz="1725" b="1">
                <a:solidFill>
                  <a:srgbClr val="244F86"/>
                </a:solidFill>
                <a:latin typeface="Arial"/>
                <a:ea typeface="Arial"/>
                <a:cs typeface="Arial"/>
              </a:rPr>
              <a:t>01  Official SIH26027 requirements</a:t>
            </a:r>
          </a:p>
        </p:txBody>
      </p:sp>
      <p:sp>
        <p:nvSpPr>
          <p:cNvPr id="17415" name="">
            <a:extLst xmlns:a="http://schemas.openxmlformats.org/drawingml/2006/main">
              <a:ext uri="{FF2B5EF4-FFF2-40B4-BE49-F238E27FC236}">
                <a16:creationId xmlns:a16="http://schemas.microsoft.com/office/drawing/2014/main" id="{4A9CC63E-C481-4206-9CF3-AB3F3F53CA85}"/>
              </a:ext>
            </a:extLst>
          </p:cNvPr>
          <p:cNvSpPr>
            <a:spLocks xmlns:a="http://schemas.openxmlformats.org/drawingml/2006/main" noGrp="1"/>
          </p:cNvSpPr>
          <p:nvPr/>
        </p:nvSpPr>
        <p:spPr>
          <a:xfrm xmlns:a="http://schemas.openxmlformats.org/drawingml/2006/main">
            <a:off x="457200" y="2971800"/>
            <a:ext cx="1119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Coordinated inputs, prioritization, weekly and monthly plans.</a:t>
            </a:r>
          </a:p>
        </p:txBody>
      </p:sp>
      <p:sp>
        <p:nvSpPr>
          <p:cNvPr id="17416" name="">
            <a:extLst xmlns:a="http://schemas.openxmlformats.org/drawingml/2006/main">
              <a:ext uri="{FF2B5EF4-FFF2-40B4-BE49-F238E27FC236}">
                <a16:creationId xmlns:a16="http://schemas.microsoft.com/office/drawing/2014/main" id="{CA69DBE1-4572-4E08-81A8-7577E4145AC3}"/>
              </a:ext>
            </a:extLst>
          </p:cNvPr>
          <p:cNvSpPr>
            <a:spLocks xmlns:a="http://schemas.openxmlformats.org/drawingml/2006/main" noGrp="1"/>
          </p:cNvSpPr>
          <p:nvPr/>
        </p:nvSpPr>
        <p:spPr>
          <a:xfrm xmlns:a="http://schemas.openxmlformats.org/drawingml/2006/main">
            <a:off x="6572250" y="268605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26472"/>
                </a:solidFill>
                <a:latin typeface="Arial"/>
                <a:ea typeface="Arial"/>
                <a:cs typeface="Arial"/>
              </a:defRPr>
            </a:pPr>
            <a:r>
              <a:rPr sz="1275" b="0">
                <a:solidFill>
                  <a:srgbClr val="526472"/>
                </a:solidFill>
                <a:latin typeface="Arial"/>
                <a:ea typeface="Arial"/>
                <a:cs typeface="Arial"/>
              </a:rPr>
              <a:t>sih.gov.in/sih2026PS</a:t>
            </a:r>
          </a:p>
        </p:txBody>
      </p:sp>
      <p:sp>
        <p:nvSpPr>
          <p:cNvPr id="17417" name="">
            <a:extLst xmlns:a="http://schemas.openxmlformats.org/drawingml/2006/main">
              <a:ext uri="{FF2B5EF4-FFF2-40B4-BE49-F238E27FC236}">
                <a16:creationId xmlns:a16="http://schemas.microsoft.com/office/drawing/2014/main" id="{8ECCA9B5-834B-4A0C-AE0E-879FC2B485A6}"/>
              </a:ext>
            </a:extLst>
          </p:cNvPr>
          <p:cNvSpPr>
            <a:spLocks xmlns:a="http://schemas.openxmlformats.org/drawingml/2006/main" noGrp="1"/>
          </p:cNvSpPr>
          <p:nvPr/>
        </p:nvSpPr>
        <p:spPr>
          <a:xfrm xmlns:a="http://schemas.openxmlformats.org/drawingml/2006/main">
            <a:off x="457200" y="3419475"/>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4F86"/>
                </a:solidFill>
                <a:latin typeface="Arial"/>
                <a:ea typeface="Arial"/>
                <a:cs typeface="Arial"/>
              </a:defRPr>
            </a:pPr>
            <a:r>
              <a:rPr sz="1725" b="1">
                <a:solidFill>
                  <a:srgbClr val="244F86"/>
                </a:solidFill>
                <a:latin typeface="Arial"/>
                <a:ea typeface="Arial"/>
                <a:cs typeface="Arial"/>
              </a:rPr>
              <a:t>02  Railway Board, 29 August 2023</a:t>
            </a:r>
          </a:p>
        </p:txBody>
      </p:sp>
      <p:sp>
        <p:nvSpPr>
          <p:cNvPr id="17418" name="">
            <a:extLst xmlns:a="http://schemas.openxmlformats.org/drawingml/2006/main">
              <a:ext uri="{FF2B5EF4-FFF2-40B4-BE49-F238E27FC236}">
                <a16:creationId xmlns:a16="http://schemas.microsoft.com/office/drawing/2014/main" id="{DC1D4313-E2D4-410D-910E-ABFF09E59E25}"/>
              </a:ext>
            </a:extLst>
          </p:cNvPr>
          <p:cNvSpPr>
            <a:spLocks xmlns:a="http://schemas.openxmlformats.org/drawingml/2006/main" noGrp="1"/>
          </p:cNvSpPr>
          <p:nvPr/>
        </p:nvSpPr>
        <p:spPr>
          <a:xfrm xmlns:a="http://schemas.openxmlformats.org/drawingml/2006/main">
            <a:off x="457200" y="3705225"/>
            <a:ext cx="1119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Joint rolling blocks, resource preparation and official review.</a:t>
            </a:r>
          </a:p>
        </p:txBody>
      </p:sp>
      <p:sp>
        <p:nvSpPr>
          <p:cNvPr id="17419" name="">
            <a:extLst xmlns:a="http://schemas.openxmlformats.org/drawingml/2006/main">
              <a:ext uri="{FF2B5EF4-FFF2-40B4-BE49-F238E27FC236}">
                <a16:creationId xmlns:a16="http://schemas.microsoft.com/office/drawing/2014/main" id="{D6C79EAF-92FB-44AD-8AC2-B21834662D7F}"/>
              </a:ext>
            </a:extLst>
          </p:cNvPr>
          <p:cNvSpPr>
            <a:spLocks xmlns:a="http://schemas.openxmlformats.org/drawingml/2006/main" noGrp="1"/>
          </p:cNvSpPr>
          <p:nvPr/>
        </p:nvSpPr>
        <p:spPr>
          <a:xfrm xmlns:a="http://schemas.openxmlformats.org/drawingml/2006/main">
            <a:off x="6572250" y="3419475"/>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26472"/>
                </a:solidFill>
                <a:latin typeface="Arial"/>
                <a:ea typeface="Arial"/>
                <a:cs typeface="Arial"/>
              </a:defRPr>
            </a:pPr>
            <a:r>
              <a:rPr sz="1275" b="0">
                <a:solidFill>
                  <a:srgbClr val="526472"/>
                </a:solidFill>
                <a:latin typeface="Arial"/>
                <a:ea typeface="Arial"/>
                <a:cs typeface="Arial"/>
              </a:rPr>
              <a:t>iricen.gov.in/iricen/other_manual/ircm_ref_docs/1801.pdf</a:t>
            </a:r>
          </a:p>
        </p:txBody>
      </p:sp>
      <p:sp>
        <p:nvSpPr>
          <p:cNvPr id="17420" name="">
            <a:extLst xmlns:a="http://schemas.openxmlformats.org/drawingml/2006/main">
              <a:ext uri="{FF2B5EF4-FFF2-40B4-BE49-F238E27FC236}">
                <a16:creationId xmlns:a16="http://schemas.microsoft.com/office/drawing/2014/main" id="{946CC6E5-2ABC-4E9A-A9C2-33BAC1286230}"/>
              </a:ext>
            </a:extLst>
          </p:cNvPr>
          <p:cNvSpPr>
            <a:spLocks xmlns:a="http://schemas.openxmlformats.org/drawingml/2006/main" noGrp="1"/>
          </p:cNvSpPr>
          <p:nvPr/>
        </p:nvSpPr>
        <p:spPr>
          <a:xfrm xmlns:a="http://schemas.openxmlformats.org/drawingml/2006/main">
            <a:off x="457200" y="4152900"/>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4F86"/>
                </a:solidFill>
                <a:latin typeface="Arial"/>
                <a:ea typeface="Arial"/>
                <a:cs typeface="Arial"/>
              </a:defRPr>
            </a:pPr>
            <a:r>
              <a:rPr sz="1725" b="1">
                <a:solidFill>
                  <a:srgbClr val="244F86"/>
                </a:solidFill>
                <a:latin typeface="Arial"/>
                <a:ea typeface="Arial"/>
                <a:cs typeface="Arial"/>
              </a:rPr>
              <a:t>03  CRIS system descriptions</a:t>
            </a:r>
          </a:p>
        </p:txBody>
      </p:sp>
      <p:sp>
        <p:nvSpPr>
          <p:cNvPr id="17421" name="">
            <a:extLst xmlns:a="http://schemas.openxmlformats.org/drawingml/2006/main">
              <a:ext uri="{FF2B5EF4-FFF2-40B4-BE49-F238E27FC236}">
                <a16:creationId xmlns:a16="http://schemas.microsoft.com/office/drawing/2014/main" id="{5A903162-C1C4-4B6F-ACE5-29EDC39AF60F}"/>
              </a:ext>
            </a:extLst>
          </p:cNvPr>
          <p:cNvSpPr>
            <a:spLocks xmlns:a="http://schemas.openxmlformats.org/drawingml/2006/main" noGrp="1"/>
          </p:cNvSpPr>
          <p:nvPr/>
        </p:nvSpPr>
        <p:spPr>
          <a:xfrm xmlns:a="http://schemas.openxmlformats.org/drawingml/2006/main">
            <a:off x="457200" y="4438650"/>
            <a:ext cx="1119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Existing maintenance and operating systems guide input design.</a:t>
            </a:r>
          </a:p>
        </p:txBody>
      </p:sp>
      <p:sp>
        <p:nvSpPr>
          <p:cNvPr id="17422" name="">
            <a:extLst xmlns:a="http://schemas.openxmlformats.org/drawingml/2006/main">
              <a:ext uri="{FF2B5EF4-FFF2-40B4-BE49-F238E27FC236}">
                <a16:creationId xmlns:a16="http://schemas.microsoft.com/office/drawing/2014/main" id="{55875E86-5C06-4C01-8489-CCB281934579}"/>
              </a:ext>
            </a:extLst>
          </p:cNvPr>
          <p:cNvSpPr>
            <a:spLocks xmlns:a="http://schemas.openxmlformats.org/drawingml/2006/main" noGrp="1"/>
          </p:cNvSpPr>
          <p:nvPr/>
        </p:nvSpPr>
        <p:spPr>
          <a:xfrm xmlns:a="http://schemas.openxmlformats.org/drawingml/2006/main">
            <a:off x="6572250" y="41529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26472"/>
                </a:solidFill>
                <a:latin typeface="Arial"/>
                <a:ea typeface="Arial"/>
                <a:cs typeface="Arial"/>
              </a:defRPr>
            </a:pPr>
            <a:r>
              <a:rPr sz="1275" b="0">
                <a:solidFill>
                  <a:srgbClr val="526472"/>
                </a:solidFill>
                <a:latin typeface="Arial"/>
                <a:ea typeface="Arial"/>
                <a:cs typeface="Arial"/>
              </a:rPr>
              <a:t>cris.org.in/loadpage?page=proTMS  /  proTDMS  /  proCOA</a:t>
            </a:r>
          </a:p>
        </p:txBody>
      </p:sp>
      <p:sp>
        <p:nvSpPr>
          <p:cNvPr id="17423" name="">
            <a:extLst xmlns:a="http://schemas.openxmlformats.org/drawingml/2006/main">
              <a:ext uri="{FF2B5EF4-FFF2-40B4-BE49-F238E27FC236}">
                <a16:creationId xmlns:a16="http://schemas.microsoft.com/office/drawing/2014/main" id="{72A684B8-3174-49ED-8AEC-6A95770593B4}"/>
              </a:ext>
            </a:extLst>
          </p:cNvPr>
          <p:cNvSpPr>
            <a:spLocks xmlns:a="http://schemas.openxmlformats.org/drawingml/2006/main" noGrp="1"/>
          </p:cNvSpPr>
          <p:nvPr/>
        </p:nvSpPr>
        <p:spPr>
          <a:xfrm xmlns:a="http://schemas.openxmlformats.org/drawingml/2006/main">
            <a:off x="457200" y="4886325"/>
            <a:ext cx="571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244F86"/>
                </a:solidFill>
                <a:latin typeface="Arial"/>
                <a:ea typeface="Arial"/>
                <a:cs typeface="Arial"/>
              </a:defRPr>
            </a:pPr>
            <a:r>
              <a:rPr sz="1725" b="1">
                <a:solidFill>
                  <a:srgbClr val="244F86"/>
                </a:solidFill>
                <a:latin typeface="Arial"/>
                <a:ea typeface="Arial"/>
                <a:cs typeface="Arial"/>
              </a:rPr>
              <a:t>04  Google OR-Tools CP-SAT documentation</a:t>
            </a:r>
          </a:p>
        </p:txBody>
      </p:sp>
      <p:sp>
        <p:nvSpPr>
          <p:cNvPr id="17424" name="">
            <a:extLst xmlns:a="http://schemas.openxmlformats.org/drawingml/2006/main">
              <a:ext uri="{FF2B5EF4-FFF2-40B4-BE49-F238E27FC236}">
                <a16:creationId xmlns:a16="http://schemas.microsoft.com/office/drawing/2014/main" id="{F4AB3B0B-AE6C-4785-9FEC-AF9A8F8E5198}"/>
              </a:ext>
            </a:extLst>
          </p:cNvPr>
          <p:cNvSpPr>
            <a:spLocks xmlns:a="http://schemas.openxmlformats.org/drawingml/2006/main" noGrp="1"/>
          </p:cNvSpPr>
          <p:nvPr/>
        </p:nvSpPr>
        <p:spPr>
          <a:xfrm xmlns:a="http://schemas.openxmlformats.org/drawingml/2006/main">
            <a:off x="457200" y="5172075"/>
            <a:ext cx="11191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Constraint scheduling with explicit feasible / optimal / unknown status.</a:t>
            </a:r>
          </a:p>
        </p:txBody>
      </p:sp>
      <p:sp>
        <p:nvSpPr>
          <p:cNvPr id="17425" name="">
            <a:extLst xmlns:a="http://schemas.openxmlformats.org/drawingml/2006/main">
              <a:ext uri="{FF2B5EF4-FFF2-40B4-BE49-F238E27FC236}">
                <a16:creationId xmlns:a16="http://schemas.microsoft.com/office/drawing/2014/main" id="{27AAF27F-68F3-4EF7-8D3A-6096AF9FFAA1}"/>
              </a:ext>
            </a:extLst>
          </p:cNvPr>
          <p:cNvSpPr>
            <a:spLocks xmlns:a="http://schemas.openxmlformats.org/drawingml/2006/main" noGrp="1"/>
          </p:cNvSpPr>
          <p:nvPr/>
        </p:nvSpPr>
        <p:spPr>
          <a:xfrm xmlns:a="http://schemas.openxmlformats.org/drawingml/2006/main">
            <a:off x="6572250" y="4886325"/>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26472"/>
                </a:solidFill>
                <a:latin typeface="Arial"/>
                <a:ea typeface="Arial"/>
                <a:cs typeface="Arial"/>
              </a:defRPr>
            </a:pPr>
            <a:r>
              <a:rPr sz="1275" b="0">
                <a:solidFill>
                  <a:srgbClr val="526472"/>
                </a:solidFill>
                <a:latin typeface="Arial"/>
                <a:ea typeface="Arial"/>
                <a:cs typeface="Arial"/>
              </a:rPr>
              <a:t>developers.google.com/optimization/cp/cp_solver</a:t>
            </a:r>
          </a:p>
        </p:txBody>
      </p:sp>
      <p:sp>
        <p:nvSpPr>
          <p:cNvPr id="17426" name="">
            <a:extLst xmlns:a="http://schemas.openxmlformats.org/drawingml/2006/main">
              <a:ext uri="{FF2B5EF4-FFF2-40B4-BE49-F238E27FC236}">
                <a16:creationId xmlns:a16="http://schemas.microsoft.com/office/drawing/2014/main" id="{62674759-9DEC-423E-AB47-9190112CEA4F}"/>
              </a:ext>
            </a:extLst>
          </p:cNvPr>
          <p:cNvSpPr>
            <a:spLocks xmlns:a="http://schemas.openxmlformats.org/drawingml/2006/main" noGrp="1"/>
          </p:cNvSpPr>
          <p:nvPr/>
        </p:nvSpPr>
        <p:spPr>
          <a:xfrm xmlns:a="http://schemas.openxmlformats.org/drawingml/2006/main">
            <a:off x="457200" y="5695950"/>
            <a:ext cx="1123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6374C"/>
                </a:solidFill>
                <a:latin typeface="Arial"/>
                <a:ea typeface="Arial"/>
                <a:cs typeface="Arial"/>
              </a:defRPr>
            </a:pPr>
            <a:r>
              <a:rPr sz="1650" b="0">
                <a:solidFill>
                  <a:srgbClr val="16374C"/>
                </a:solidFill>
                <a:latin typeface="Arial"/>
                <a:ea typeface="Arial"/>
                <a:cs typeface="Arial"/>
              </a:rPr>
              <a:t>Team research: 98-page design blueprint, rule/checker boundary, repair workflow and benchmark plan.</a:t>
            </a:r>
          </a:p>
        </p:txBody>
      </p:sp>
      <p:sp>
        <p:nvSpPr>
          <p:cNvPr id="17427" name="">
            <a:extLst xmlns:a="http://schemas.openxmlformats.org/drawingml/2006/main">
              <a:ext uri="{FF2B5EF4-FFF2-40B4-BE49-F238E27FC236}">
                <a16:creationId xmlns:a16="http://schemas.microsoft.com/office/drawing/2014/main" id="{A43979BF-1939-4EA0-9330-DF97F7DBDE51}"/>
              </a:ext>
            </a:extLst>
          </p:cNvPr>
          <p:cNvSpPr>
            <a:spLocks xmlns:a="http://schemas.openxmlformats.org/drawingml/2006/main" noGrp="1"/>
          </p:cNvSpPr>
          <p:nvPr/>
        </p:nvSpPr>
        <p:spPr>
          <a:xfrm xmlns:a="http://schemas.openxmlformats.org/drawingml/2006/main">
            <a:off x="457200" y="6057900"/>
            <a:ext cx="11144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AD541B"/>
                </a:solidFill>
                <a:latin typeface="Arial"/>
                <a:ea typeface="Arial"/>
                <a:cs typeface="Arial"/>
              </a:defRPr>
            </a:pPr>
            <a:r>
              <a:rPr sz="1425" b="1">
                <a:solidFill>
                  <a:srgbClr val="AD541B"/>
                </a:solidFill>
                <a:latin typeface="Arial"/>
                <a:ea typeface="Arial"/>
                <a:cs typeface="Arial"/>
              </a:rPr>
              <a:t>Prototype walkthrough: [ADD PUBLIC DEMO LINK]</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2026-09-27T01:02:31.3120000Z</dcterms:created>
  <dcterms:modified xsi:type="dcterms:W3CDTF">2026-09-27T01:02:31.3120000Z</dcterms:modified>
</coreProperties>
</file>